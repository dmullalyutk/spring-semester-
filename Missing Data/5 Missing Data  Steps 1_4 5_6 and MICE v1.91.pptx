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91" r:id="rId2"/>
  </p:sldMasterIdLst>
  <p:notesMasterIdLst>
    <p:notesMasterId r:id="rId34"/>
  </p:notesMasterIdLst>
  <p:handoutMasterIdLst>
    <p:handoutMasterId r:id="rId35"/>
  </p:handoutMasterIdLst>
  <p:sldIdLst>
    <p:sldId id="291" r:id="rId3"/>
    <p:sldId id="330" r:id="rId4"/>
    <p:sldId id="326" r:id="rId5"/>
    <p:sldId id="325" r:id="rId6"/>
    <p:sldId id="314" r:id="rId7"/>
    <p:sldId id="323" r:id="rId8"/>
    <p:sldId id="328" r:id="rId9"/>
    <p:sldId id="339" r:id="rId10"/>
    <p:sldId id="340" r:id="rId11"/>
    <p:sldId id="341" r:id="rId12"/>
    <p:sldId id="342" r:id="rId13"/>
    <p:sldId id="345" r:id="rId14"/>
    <p:sldId id="343" r:id="rId15"/>
    <p:sldId id="344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256" r:id="rId24"/>
    <p:sldId id="260" r:id="rId25"/>
    <p:sldId id="262" r:id="rId26"/>
    <p:sldId id="257" r:id="rId27"/>
    <p:sldId id="258" r:id="rId28"/>
    <p:sldId id="261" r:id="rId29"/>
    <p:sldId id="259" r:id="rId30"/>
    <p:sldId id="354" r:id="rId31"/>
    <p:sldId id="353" r:id="rId32"/>
    <p:sldId id="263" r:id="rId33"/>
  </p:sldIdLst>
  <p:sldSz cx="9144000" cy="6858000" type="screen4x3"/>
  <p:notesSz cx="7010400" cy="9296400"/>
  <p:custDataLst>
    <p:tags r:id="rId36"/>
  </p:custDataLst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en Pannell" initials="AP" lastIdx="1" clrIdx="0">
    <p:extLst>
      <p:ext uri="{19B8F6BF-5375-455C-9EA6-DF929625EA0E}">
        <p15:presenceInfo xmlns:p15="http://schemas.microsoft.com/office/powerpoint/2012/main" userId="3b657cec09296b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FFFAE5"/>
    <a:srgbClr val="CC3300"/>
    <a:srgbClr val="333333"/>
    <a:srgbClr val="FF8000"/>
    <a:srgbClr val="F9E28F"/>
    <a:srgbClr val="F9E497"/>
    <a:srgbClr val="FCF094"/>
    <a:srgbClr val="FCE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5" autoAdjust="0"/>
    <p:restoredTop sz="96283" autoAdjust="0"/>
  </p:normalViewPr>
  <p:slideViewPr>
    <p:cSldViewPr snapToGrid="0" snapToObjects="1">
      <p:cViewPr varScale="1">
        <p:scale>
          <a:sx n="88" d="100"/>
          <a:sy n="88" d="100"/>
        </p:scale>
        <p:origin x="1032" y="270"/>
      </p:cViewPr>
      <p:guideLst>
        <p:guide orient="horz" pos="3120"/>
        <p:guide pos="1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716"/>
    </p:cViewPr>
  </p:sorterViewPr>
  <p:notesViewPr>
    <p:cSldViewPr snapToGrid="0" snapToObjects="1">
      <p:cViewPr varScale="1">
        <p:scale>
          <a:sx n="79" d="100"/>
          <a:sy n="79" d="100"/>
        </p:scale>
        <p:origin x="1986" y="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7-4DD6-8F76-27B6B664E5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7-4DD6-8F76-27B6B664E5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7-4DD6-8F76-27B6B664E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4739952"/>
        <c:axId val="194717104"/>
        <c:axId val="187445984"/>
      </c:bar3DChart>
      <c:catAx>
        <c:axId val="194739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94717104"/>
        <c:crosses val="autoZero"/>
        <c:auto val="1"/>
        <c:lblAlgn val="ctr"/>
        <c:lblOffset val="100"/>
        <c:noMultiLvlLbl val="0"/>
      </c:catAx>
      <c:valAx>
        <c:axId val="194717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739952"/>
        <c:crosses val="autoZero"/>
        <c:crossBetween val="between"/>
      </c:valAx>
      <c:serAx>
        <c:axId val="187445984"/>
        <c:scaling>
          <c:orientation val="minMax"/>
        </c:scaling>
        <c:delete val="0"/>
        <c:axPos val="b"/>
        <c:majorTickMark val="out"/>
        <c:minorTickMark val="none"/>
        <c:tickLblPos val="nextTo"/>
        <c:crossAx val="194717104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928A4EFA-01FE-48B1-9198-8152677BC47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3717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1T17:16:13.3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45 248 5065 0 0,'-1'0'389'0'0,"0"-1"-167"0"0,2-6 1646 0 0,0-7 10480 0 0,-11 0-12256 0 0,5 7 291 0 0,5 8-366 0 0,0-1 0 0 0,0 0 0 0 0,0 0-1 0 0,0 0 1 0 0,0 0 0 0 0,0 0 0 0 0,0 0-1 0 0,0 0 1 0 0,0 0 0 0 0,0 0 0 0 0,0 0-1 0 0,0 1 1 0 0,0-1 0 0 0,0 0 0 0 0,0 0-1 0 0,0 0 1 0 0,0 0 0 0 0,-1 0 0 0 0,1 0 0 0 0,0 0-1 0 0,0 0 1 0 0,0 0 0 0 0,0 0 0 0 0,0 0-1 0 0,0 0 1 0 0,0 0 0 0 0,0 0 0 0 0,0 0-1 0 0,0 0 1 0 0,-1 0 0 0 0,1 0 0 0 0,0 0-1 0 0,0 0 1 0 0,0 0 0 0 0,0 0 0 0 0,0 0 0 0 0,0 0-1 0 0,0 0 1 0 0,0 0 0 0 0,-1 0 0 0 0,1 0-1 0 0,0 0 1 0 0,0 0 0 0 0,0 0 0 0 0,0 0-1 0 0,0 0 1 0 0,0 0 0 0 0,0 0 0 0 0,0 0-1 0 0,0 0 1 0 0,0 0 0 0 0,0-1 0 0 0,-1 1 0 0 0,1 0-1 0 0,0 0 1 0 0,0 0 0 0 0,0 0 0 0 0,0 0-1 0 0,0 0 1 0 0,0 0 0 0 0,-2 3 46 0 0,2-3-38 0 0,-2 4 163 0 0,-1-1-1 0 0,1 1 1 0 0,-1-1-1 0 0,-5 6 1 0 0,2-4 65 0 0,6-4-135 0 0,0 2-18 0 0,5-7-41 0 0,1-2-58 0 0,1 0 1 0 0,-1 0-1 0 0,1 1 0 0 0,0 0 0 0 0,0 0 0 0 0,0 1 1 0 0,0 0-1 0 0,15-6 0 0 0,-17 9-1 0 0,-1-1 0 0 0,1 0 0 0 0,-1 0 0 0 0,1-1 0 0 0,-1 0 0 0 0,0 1 0 0 0,0-1 0 0 0,0-1 0 0 0,-1 1 0 0 0,1-1 0 0 0,3-4 0 0 0,5-7 0 0 0,15-26 0 0 0,-22 33 0 0 0,0 1 19 0 0,0 1-1 0 0,0-1 1 0 0,1 1 0 0 0,0 1-1 0 0,0-1 1 0 0,0 1 0 0 0,1 0-1 0 0,-1 0 1 0 0,1 1 0 0 0,0 0-1 0 0,1 0 1 0 0,-1 0 0 0 0,0 1-1 0 0,11-3 1 0 0,-9 4-19 0 0,0 0 0 0 0,0 1 0 0 0,0 0 0 0 0,11-1 0 0 0,-20 2 0 0 0,0 0 0 0 0,1 0 0 0 0,-1 0 0 0 0,0 0 0 0 0,0 0 0 0 0,0 1 0 0 0,0-1 0 0 0,1 0 0 0 0,-1 0 0 0 0,0 0 0 0 0,0 0 0 0 0,0 0 0 0 0,0 0 0 0 0,0 0 0 0 0,1 0 0 0 0,-1 0 0 0 0,0 0 0 0 0,0 0 0 0 0,0 0 0 0 0,0 1 0 0 0,0-1 0 0 0,0 0 0 0 0,1 0 0 0 0,-1 0 0 0 0,0 0 0 0 0,0 0 0 0 0,0 0 0 0 0,0 1 0 0 0,0-1 0 0 0,0 0 0 0 0,0 0 0 0 0,0 0 0 0 0,0 0 0 0 0,0 1 0 0 0,0-1 0 0 0,0 0 0 0 0,0 0 0 0 0,1 1 0 0 0,-1-1 0 0 0,0 0 0 0 0,0 1 0 0 0,0-1 0 0 0,0 0 0 0 0,0 1 0 0 0,1-1 0 0 0,-1 0 0 0 0,0 1 0 0 0,0-1 0 0 0,0 0 0 0 0,1 0 0 0 0,-1 1 0 0 0,0-1 0 0 0,1 0 0 0 0,-1 0 0 0 0,0 0 0 0 0,0 1 0 0 0,1-1 0 0 0,-1 0 0 0 0,0 0 0 0 0,1 0 0 0 0,-1 0 0 0 0,0 0 0 0 0,1 0 0 0 0,-1 0 0 0 0,0 0 0 0 0,1 0 0 0 0,-1 0 0 0 0,0 0 0 0 0,1 0 0 0 0,-1 0 0 0 0,1 0 0 0 0,4 0 0 0 0,0 0 0 0 0,0 0 0 0 0,0 0 0 0 0,0-1 0 0 0,-1 0 0 0 0,1 0 0 0 0,0-1 0 0 0,8-2 0 0 0,-12 4 0 0 0,-1 1 0 0 0,0 1 464 0 0,3 1-424 0 0,1 1-54 0 0,0 0 0 0 0,1 1 0 0 0,-1-2 0 0 0,1 1 0 0 0,0-1 0 0 0,0 1 0 0 0,8 2 0 0 0,14 3 73 0 0,-23-8-62 0 0,1 0-1 0 0,-1 0 0 0 0,0 0 1 0 0,1 1-1 0 0,-1 0 0 0 0,0 0 1 0 0,0 0-1 0 0,0 0 1 0 0,0 1-1 0 0,0 0 0 0 0,-1 0 1 0 0,5 3-1 0 0,38 48 4 0 0,-28-35-61 0 0,-11-10 61 0 0,1-1 1 0 0,0 0-1 0 0,13 9 0 0 0,-18-15 0 0 0,1-1 0 0 0,-1 1 0 0 0,1-1 0 0 0,-1 0 0 0 0,1 1 0 0 0,5 0 0 0 0,14 5 0 0 0,-23-7 25 0 0,0 0 0 0 0,1 0 0 0 0,-1 1 0 0 0,0-1 0 0 0,1 0 0 0 0,-1 0 1 0 0,0 1-1 0 0,0-1 0 0 0,1 0 0 0 0,-1 1 0 0 0,0-1 0 0 0,0 0 0 0 0,1 1 0 0 0,-1-1 0 0 0,0 1 0 0 0,0-1 0 0 0,0 0 0 0 0,0 1 0 0 0,0-1 0 0 0,0 1 1 0 0,0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1T17:30:06.4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21 456 0 0,'-2'-1'0'0'0,"-1"-1"0"0"0,1-1 0 0 0,1 2 0 0 0,-1-1 128 0 0,2 0-8 0 0,-1 2-8 0 0,-3-1 0 0 0,0-2-48 0 0,-3-2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1T17:30:07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24 126 456 0 0,'0'-7'57'0'0,"0"1"1"0"0,0-1-1 0 0,-1 1 0 0 0,1-1 0 0 0,-1 1 1 0 0,-1 0-1 0 0,1-1 0 0 0,-1 1 0 0 0,0 0 1 0 0,-1 0-1 0 0,1 0 0 0 0,-5-7 0 0 0,6 12-36 0 0,1 0 1 0 0,0 0-1 0 0,-1 0 0 0 0,1 0 0 0 0,0-1 0 0 0,0 1 0 0 0,-1 0 1 0 0,1 0-1 0 0,0 0 0 0 0,0 0 0 0 0,0 0 0 0 0,1 0 0 0 0,-1 0 1 0 0,0 0-1 0 0,13-20 17350 0 0,-9 23-17168 0 0,-1 0-80 0 0,0 0-1 0 0,-1-1 0 0 0,1 1 1 0 0,0 0-1 0 0,-1 0 1 0 0,0 1-1 0 0,1-1 0 0 0,-1 0 1 0 0,3 5-1 0 0,1 0 154 0 0,0 0-1 0 0,0 0 1 0 0,1-1 0 0 0,0 1-1 0 0,0-2 1 0 0,9 6-1 0 0,16 15-94 0 0,16 15-106 0 0,-26-23-23 0 0,-1 1 0 0 0,0 0 0 0 0,18 25 0 0 0,125 153 12 0 0,-147-179-34 0 0,-1 0 1 0 0,27 39-1 0 0,-38-47-19 0 0,0-1 0 0 0,0 1 1 0 0,-1 0-1 0 0,0 0 0 0 0,0 1 0 0 0,-1-1 0 0 0,-1 1 0 0 0,0-1 0 0 0,1 13 1 0 0,-2 15 16 0 0,-3 0 0 0 0,0 0 0 0 0,-3-1 1 0 0,-11 46-1 0 0,14-71-28 0 0,0 0 0 0 0,0 0 0 0 0,1 0 0 0 0,1 0 0 0 0,0 1 0 0 0,0-1 0 0 0,1 0 0 0 0,4 16 0 0 0,-5-28 0 0 0,0 1 0 0 0,1-1 0 0 0,-1 1 1 0 0,0-1-1 0 0,0 0 0 0 0,1 1 0 0 0,-1-1 0 0 0,1 1 0 0 0,-1-1 0 0 0,0 0 0 0 0,1 1 1 0 0,-1-1-1 0 0,1 0 0 0 0,-1 0 0 0 0,1 1 0 0 0,-1-1 0 0 0,1 0 0 0 0,-1 0 1 0 0,1 0-1 0 0,-1 1 0 0 0,1-1 0 0 0,-1 0 0 0 0,1 0 0 0 0,-1 0 0 0 0,1 0 1 0 0,0 0-2 0 0,0 0 0 0 0,0 0 0 0 0,-1 0 1 0 0,1 0-1 0 0,0 1 0 0 0,-1-1 0 0 0,1 0 1 0 0,0 0-1 0 0,-1 1 0 0 0,1-1 1 0 0,0 0-1 0 0,-1 1 0 0 0,1-1 0 0 0,-1 1 1 0 0,1-1-1 0 0,0 0 0 0 0,-1 1 0 0 0,1-1 1 0 0,-1 1-1 0 0,0 0 0 0 0,1-1 0 0 0,-1 1 1 0 0,1-1-1 0 0,-1 2 0 0 0,0-2-14 0 0,0 0 0 0 0,0 1-1 0 0,0-1 1 0 0,0 0 0 0 0,0 0-1 0 0,0 1 1 0 0,0-1 0 0 0,0 0-1 0 0,0 1 1 0 0,0-1 0 0 0,-1 0-1 0 0,1 0 1 0 0,0 0 0 0 0,0 1-1 0 0,0-1 1 0 0,0 0 0 0 0,-1 0-1 0 0,1 1 1 0 0,0-1 0 0 0,0 0-1 0 0,0 0 1 0 0,-1 0 0 0 0,1 0-1 0 0,0 0 1 0 0,0 1 0 0 0,-1-1-1 0 0,1 0 1 0 0,0 0 0 0 0,0 0-1 0 0,-1 0 1 0 0,1 0 0 0 0,0 0-1 0 0,0 0 1 0 0,-1 0 0 0 0,1 0-1 0 0,-1 0 1 0 0,-13 2-986 0 0,11-2 374 0 0,-3 1-1324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11T17:30:08.2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316 89 1376 0 0,'-9'-26'1695'0'0,"5"20"-1147"0"0,0 1 0 0 0,0-1 0 0 0,0 1 0 0 0,-1-1 0 0 0,-7-6 0 0 0,6 7 616 0 0,6 4-973 0 0,0 1-1 0 0,-1-1 1 0 0,1 1-1 0 0,0 0 1 0 0,0-1-1 0 0,-1 1 1 0 0,1-1 0 0 0,0 1-1 0 0,0 0 1 0 0,0-1-1 0 0,-1 1 1 0 0,1-1-1 0 0,0 1 1 0 0,0-1-1 0 0,0 1 1 0 0,0-1 0 0 0,0 1-1 0 0,0-1 1 0 0,0 1-1 0 0,0-1 1 0 0,0 1-1 0 0,0-1 1 0 0,5-6 6186 0 0,-3 11-6131 0 0,0-1-190 0 0,-1-1 1 0 0,1 1-1 0 0,-1 0 0 0 0,0 0 0 0 0,0 0 0 0 0,0-1 0 0 0,-1 1 1 0 0,1 0-1 0 0,-1 0 0 0 0,1 0 0 0 0,-1 0 0 0 0,0 0 0 0 0,0 0 0 0 0,0 0 1 0 0,-1 0-1 0 0,1 0 0 0 0,-1 0 0 0 0,0 3 0 0 0,-23 63 617 0 0,-51 101 1 0 0,56-133-543 0 0,-3-1 1 0 0,-1-1 0 0 0,-1-1 0 0 0,-34 36 0 0 0,47-59-120 0 0,8-8-3 0 0,0-1 0 0 0,0 1-1 0 0,0 0 1 0 0,1-1 0 0 0,-1 1 0 0 0,1 0 0 0 0,-3 5 0 0 0,29-42-505 0 0,-15 5-3377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1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12C8B322-0BAD-4D25-9685-10690289430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922803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530A402-ED4D-4391-9DF3-B0ADD95FA94D}" type="slidenum">
              <a:rPr lang="en-CA" sz="1200" smtClean="0">
                <a:latin typeface="Tahoma" pitchFamily="34" charset="0"/>
              </a:rPr>
              <a:pPr eaLnBrk="1" hangingPunct="1"/>
              <a:t>1</a:t>
            </a:fld>
            <a:endParaRPr lang="en-CA" sz="1200">
              <a:latin typeface="Tahoma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Read Before Class: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5.1 Using the Standard</a:t>
            </a:r>
            <a:r>
              <a:rPr lang="en-US" sz="18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deviation to Standardize Values</a:t>
            </a:r>
            <a:endParaRPr lang="en-US" sz="18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5.2 Shifting and Scaling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5.3 Normal Models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5.4 Working with Normal Percentiles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5.5 Normal Probability</a:t>
            </a:r>
            <a:r>
              <a:rPr lang="en-US" sz="18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Plots</a:t>
            </a:r>
            <a:endParaRPr lang="en-US" sz="18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eaLnBrk="1" hangingPunct="1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4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09D490-2945-4A14-85B0-CC83A829F1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 altLang="en-US"/>
              <a:t>© 2009 Allen Pannell, Bruce Williamson</a:t>
            </a:r>
          </a:p>
          <a:p>
            <a:fld id="{8187B58E-20E1-4855-8D43-33EDC720D0F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68997" name="Rectangle 5">
            <a:extLst>
              <a:ext uri="{FF2B5EF4-FFF2-40B4-BE49-F238E27FC236}">
                <a16:creationId xmlns:a16="http://schemas.microsoft.com/office/drawing/2014/main" id="{770468AA-24C6-4482-9D6E-DBA0B209D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4640263"/>
            <a:ext cx="5689600" cy="14398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8996" name="Rectangle 4">
            <a:extLst>
              <a:ext uri="{FF2B5EF4-FFF2-40B4-BE49-F238E27FC236}">
                <a16:creationId xmlns:a16="http://schemas.microsoft.com/office/drawing/2014/main" id="{73D4F9E9-5594-491E-82B5-F93B75848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8325" y="1439863"/>
            <a:ext cx="6178550" cy="552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 marL="419100" indent="-419100">
              <a:buFontTx/>
              <a:buAutoNum type="arabicPeriod"/>
            </a:pPr>
            <a:r>
              <a:rPr lang="en-US" altLang="en-US" sz="1800"/>
              <a:t>Review variables for common sense based on business knowledge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Review how JMP coded the variables (nominal, continuous)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Search for missing values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Determine a strategy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Implement strategy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Remember – “new” data must be treated the same way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Search for outliers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Evaluate distribution shapes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Bin where needed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Transform where needed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Evaluate Multicollinearity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Sanity check using Decision Tree</a:t>
            </a:r>
          </a:p>
        </p:txBody>
      </p:sp>
      <p:sp>
        <p:nvSpPr>
          <p:cNvPr id="468998" name="Rectangle 6">
            <a:extLst>
              <a:ext uri="{FF2B5EF4-FFF2-40B4-BE49-F238E27FC236}">
                <a16:creationId xmlns:a16="http://schemas.microsoft.com/office/drawing/2014/main" id="{F3FE9D1D-9EB5-458F-B592-D59F61674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75"/>
            <a:ext cx="73152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661" tIns="48331" rIns="96661" bIns="48331" anchor="ctr"/>
          <a:lstStyle>
            <a:lvl1pPr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3907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8479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3051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7623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FF0000"/>
                </a:solidFill>
                <a:effectLst/>
              </a:rPr>
              <a:t>Data Cleaning Steps</a:t>
            </a:r>
          </a:p>
        </p:txBody>
      </p:sp>
    </p:spTree>
    <p:extLst>
      <p:ext uri="{BB962C8B-B14F-4D97-AF65-F5344CB8AC3E}">
        <p14:creationId xmlns:p14="http://schemas.microsoft.com/office/powerpoint/2010/main" val="70459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1" y="1524000"/>
            <a:ext cx="7623175" cy="1752600"/>
          </a:xfrm>
        </p:spPr>
        <p:txBody>
          <a:bodyPr/>
          <a:lstStyle>
            <a:lvl1pPr>
              <a:defRPr sz="4650"/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>
                <a:solidFill>
                  <a:srgbClr val="333333"/>
                </a:solidFill>
              </a:defRPr>
            </a:lvl1pPr>
          </a:lstStyle>
          <a:p>
            <a:r>
              <a:rPr lang="en-US" altLang="en-US" dirty="0"/>
              <a:t>Click to edit Master subtitle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" y="3485569"/>
            <a:ext cx="3303197" cy="3169437"/>
          </a:xfrm>
          <a:prstGeom prst="rect">
            <a:avLst/>
          </a:prstGeom>
        </p:spPr>
      </p:pic>
      <p:pic>
        <p:nvPicPr>
          <p:cNvPr id="17" name="Picture 16" descr="HCOB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5" y="6090186"/>
            <a:ext cx="2024185" cy="5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8804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A9BD23-8917-4D1E-8488-F6E36D18A0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21ABF-7A3D-4994-BF96-10BEFC9361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313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A9620-61E1-433A-8953-805D84924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03F85-FB25-44AE-AE0A-5C44F1C67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819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14" y="1600200"/>
            <a:ext cx="4070350" cy="4572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7264" y="1600200"/>
            <a:ext cx="4071937" cy="4572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7028-2795-426A-90D2-E8415964D7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658E0-7D77-4AEB-9348-96C8788C81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62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916106-F534-49A6-B6EB-8D106A18A0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4B67F2-5419-4324-AFD3-A20008A96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6956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56A17-C60F-429F-A9BF-3231F57833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5CAF2-9035-4AAF-8F52-88F11B27C8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7888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3AC85C-2788-4361-8E83-A65EC9D637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10FAE-6903-49B9-8FDB-0175E02D11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0841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EB430-B91A-4F1C-B1C5-DD8708BA1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F82E-C434-49AD-A0BA-76AEA9A4F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1344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7261-7888-4578-86DA-1C26E8BB30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77FC-C766-461A-B2F7-8B4FE9473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7419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14" y="1600200"/>
            <a:ext cx="8294687" cy="4572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8CBA2-928F-47C5-AD1F-951C82766F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D2C15-8455-495A-A127-0225EA67A5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456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303215"/>
            <a:ext cx="2076450" cy="586898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3215"/>
            <a:ext cx="6076950" cy="58689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14BDD-BD1F-4F36-9187-074DCC9800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83F71-0B88-4721-9BA8-879270771F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678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3400" y="303215"/>
            <a:ext cx="8305800" cy="5868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8ACC0-0C07-4B87-84FB-F1026AA370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E8188-428A-4DF2-AA0A-8F8E928F30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4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3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2653989484"/>
              </p:ext>
            </p:extLst>
          </p:nvPr>
        </p:nvGraphicFramePr>
        <p:xfrm>
          <a:off x="6350001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D72B-F7FF-471D-BA53-A46B848DEE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2A44B-5D71-4DCB-AC9C-11B52DAC65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2018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A9DD-714A-48EE-B939-F277FD7A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F618C-EB94-4E5A-9CC6-9F1818A7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ACEC2-DF72-4E86-BAE1-D359D1590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D4AFC-A04C-48DD-8CB9-6A99C89748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3831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CA19-ABE3-A5BA-2734-A37E88945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168A2-1C32-C8FF-7F29-3FBAB3D07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DEDD-542E-E22B-6A51-D59B38D2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ED3D1-63A8-4DB9-7BF3-E0184F1E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51C16-8E41-396E-91D1-87C1CBA6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95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EF14-57DC-0599-45E7-4BE212F5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0F54-DAC8-EEE5-DC39-49EA8DC11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A7C75-0E89-1DF4-DA9A-100FF50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A57E9-A73F-F5AE-D269-FD42BBD7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54E2-D9AA-8113-F634-115B3D70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73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A1E-B315-9C7B-69C4-9CCFB684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53D9-B37B-6C6F-878E-AE1ED6882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32709-AF4A-A38C-ABEC-49ADB227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22A5E-0847-2B33-BE60-BCB514C9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19BB-4E52-45DB-D0EC-5F8BC1B3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47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5E8C-069F-BA9D-36E4-248625EB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EDC0-808D-07DF-0980-1EA9D59D4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25ADE-C4C6-24FF-483D-223F387AF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D2A1D-C522-5628-6D00-9584B95D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0969F-0C30-BF44-137C-4F3CB046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D198A-8D8A-BDC1-11C0-F789660F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83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9584-B071-BA79-AA4D-55EEFA0F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35CEC-96BE-A794-8F41-E935A64F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905A-7AAF-9C3A-F44C-AE8DC74EF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5B9A5-4F81-86E1-3C32-BD9B55214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BB3331-0B2B-5BD7-8CF4-9E38F6868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705A0-C0AF-8BD5-8F15-ABB37E0B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A2A26-F117-CCE3-0A16-F7B0670A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93B89-9BB0-F0B5-D689-E65A4ACC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278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74C9-1650-28A9-818A-CE264B6A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7135-FD13-97AA-713B-B3B186A0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16537-DB74-DB6D-F136-C5391069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8A79A-F615-4F2F-7A9C-BE31A3CD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38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9E72C-0364-5F14-C126-E9A7C6A8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1E999-E6B1-AE61-2A7B-9AE84C78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DC10-7DEF-EF6F-ACAB-FFB48674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989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61AE-D5C0-6BA9-8833-3578ED73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9A64-60BF-A314-C89C-17B293FB8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629D2-4639-B0A3-EBB7-051FF4177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9BB0F-EAF4-E7EA-70D3-99CD786C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B87B0-E06B-D162-28BD-B4BEFB66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B636C-5A2E-42A2-435D-59CF34D4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560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FDED-983B-CDF5-0007-5EF16BFD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0833C-3FD5-8604-624E-200151306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3CD4E-9CA8-4B4C-D315-E4090F0C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042B7-7E5B-ED23-1CE9-35527245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A09F-8946-E6AB-513D-3B862F71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AB5A0-BFAA-5099-3595-86380A76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903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19DB-2402-EA14-DE7F-C2D49C12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58BA1-43EB-E68D-BC09-2EAFA05FB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E6A3D-E266-3056-9EEC-304BCED0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E5A89-673A-AA6E-97D0-4B001E54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7609-D889-1146-0B22-D98FD35A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71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52EAD-92A4-6CD4-31CB-84D5013DE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1BAE2-99F6-6971-099D-CCFEE88B6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C294A-33A5-316F-A1EF-554EA4B8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9606-4263-9A8C-5CD0-35F97F09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35B4-FF8E-6E63-1FBF-984F8086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6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3215"/>
            <a:ext cx="8305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4514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 descr="HCOB.eps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5" y="6090186"/>
            <a:ext cx="2024185" cy="50604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7BE803-7A78-485D-883E-E00512B3D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DE630-B911-45C7-A6CB-F6CD5C55C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9" r:id="rId13"/>
    <p:sldLayoutId id="2147483690" r:id="rId14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FF8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60000"/>
        <a:buFont typeface="Wingdings" pitchFamily="2" charset="2"/>
        <a:buChar char="n"/>
        <a:defRPr sz="2100">
          <a:solidFill>
            <a:srgbClr val="333333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5000"/>
        <a:buFont typeface="Wingdings" pitchFamily="2" charset="2"/>
        <a:buChar char="n"/>
        <a:defRPr sz="2100">
          <a:solidFill>
            <a:srgbClr val="333333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0000"/>
        <a:buFont typeface="Wingdings" pitchFamily="2" charset="2"/>
        <a:buChar char="n"/>
        <a:defRPr sz="1800">
          <a:solidFill>
            <a:srgbClr val="333333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5000"/>
        <a:buFont typeface="Wingdings" pitchFamily="2" charset="2"/>
        <a:buChar char="n"/>
        <a:defRPr sz="1500">
          <a:solidFill>
            <a:srgbClr val="333333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0000"/>
        <a:buFont typeface="Wingdings" pitchFamily="2" charset="2"/>
        <a:buChar char="n"/>
        <a:defRPr sz="1500">
          <a:solidFill>
            <a:srgbClr val="333333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8B61F-7F87-CD7A-8AF9-412279F3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F2E0D-6C88-E0CE-1D88-84D2B0338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4451-4AA1-D19A-B608-EE27EAF46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0246E-16B0-FA7C-9646-694723B1E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1471-3B1C-A5D0-BAB7-2E2F51141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9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37.png"/><Relationship Id="rId4" Type="http://schemas.openxmlformats.org/officeDocument/2006/relationships/customXml" Target="../ink/ink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983E-4BA3-409A-B2D8-FD7B4DB44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29" y="1524000"/>
            <a:ext cx="8102147" cy="1752600"/>
          </a:xfrm>
        </p:spPr>
        <p:txBody>
          <a:bodyPr/>
          <a:lstStyle/>
          <a:p>
            <a:r>
              <a:rPr lang="en-US" dirty="0"/>
              <a:t>Missing Data: Over-re-view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D97C-1E65-F0D3-8996-BB6B4392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0"/>
            <a:ext cx="8305800" cy="992187"/>
          </a:xfrm>
        </p:spPr>
        <p:txBody>
          <a:bodyPr/>
          <a:lstStyle/>
          <a:p>
            <a:r>
              <a:rPr lang="en-US" dirty="0"/>
              <a:t>Most Important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F98D-1FDE-3397-6633-2703EBA68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data is more of a conceptual problem than a technical one. </a:t>
            </a:r>
          </a:p>
          <a:p>
            <a:pPr lvl="1"/>
            <a:r>
              <a:rPr lang="en-US" dirty="0"/>
              <a:t>YOU must make decisions. </a:t>
            </a:r>
          </a:p>
          <a:p>
            <a:pPr lvl="1"/>
            <a:r>
              <a:rPr lang="en-US" dirty="0"/>
              <a:t>YOU must know the consequences of your decisions</a:t>
            </a:r>
          </a:p>
          <a:p>
            <a:pPr lvl="1"/>
            <a:r>
              <a:rPr lang="en-US" dirty="0"/>
              <a:t>YOU must communicate decisions.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DE4D1-2F7A-2607-73E2-9EA66C1AD8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028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17F82E5-B1DA-4514-AE71-B3343A01CFFA}"/>
              </a:ext>
            </a:extLst>
          </p:cNvPr>
          <p:cNvSpPr/>
          <p:nvPr/>
        </p:nvSpPr>
        <p:spPr bwMode="auto">
          <a:xfrm>
            <a:off x="2048942" y="2797092"/>
            <a:ext cx="6328705" cy="1343833"/>
          </a:xfrm>
          <a:prstGeom prst="roundRect">
            <a:avLst/>
          </a:prstGeom>
          <a:solidFill>
            <a:srgbClr val="FFFAE5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2B0D4-215D-F5A0-EFBA-BD9052C5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276"/>
            <a:ext cx="8305800" cy="992187"/>
          </a:xfrm>
        </p:spPr>
        <p:txBody>
          <a:bodyPr/>
          <a:lstStyle/>
          <a:p>
            <a:r>
              <a:rPr lang="en-US" sz="3600" b="1" dirty="0"/>
              <a:t>The Data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05AAB-61D8-C4A1-7952-BB7F34FAB34D}"/>
              </a:ext>
            </a:extLst>
          </p:cNvPr>
          <p:cNvSpPr/>
          <p:nvPr/>
        </p:nvSpPr>
        <p:spPr bwMode="auto">
          <a:xfrm>
            <a:off x="1105988" y="1377248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Database/Research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E4B4E-40D6-0667-4803-F982234850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6942" y="172994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D69C91-8741-5E1A-30FA-53B55BDA12D1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>
            <a:off x="788669" y="1729945"/>
            <a:ext cx="317319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1F9D6-95B8-D6D2-7CEC-6485CE8DDC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9846" y="3410802"/>
            <a:ext cx="361406" cy="6228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B2286D-3F69-EF0F-503F-66FBCBC992E5}"/>
              </a:ext>
            </a:extLst>
          </p:cNvPr>
          <p:cNvSpPr/>
          <p:nvPr/>
        </p:nvSpPr>
        <p:spPr bwMode="auto">
          <a:xfrm>
            <a:off x="117021" y="1397239"/>
            <a:ext cx="654231" cy="612572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83FFA-5E5C-DA90-6700-E687E23A8AEA}"/>
              </a:ext>
            </a:extLst>
          </p:cNvPr>
          <p:cNvSpPr/>
          <p:nvPr/>
        </p:nvSpPr>
        <p:spPr bwMode="auto">
          <a:xfrm>
            <a:off x="3614057" y="1372893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BEC1E4-A68E-5309-3546-CCA016236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9383" y="1754291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D52CE-A711-2D7F-43C0-44E13D78BBDD}"/>
              </a:ext>
            </a:extLst>
          </p:cNvPr>
          <p:cNvSpPr/>
          <p:nvPr/>
        </p:nvSpPr>
        <p:spPr bwMode="auto">
          <a:xfrm>
            <a:off x="5186498" y="1397239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06591-4044-D0D6-ECF7-535B9D8E1A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31824" y="1772988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88F10-918F-26EF-8A84-4CF992E7F252}"/>
              </a:ext>
            </a:extLst>
          </p:cNvPr>
          <p:cNvSpPr/>
          <p:nvPr/>
        </p:nvSpPr>
        <p:spPr bwMode="auto">
          <a:xfrm>
            <a:off x="6758939" y="1415936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325D63-BC6D-7687-68C3-3371B75E4D28}"/>
              </a:ext>
            </a:extLst>
          </p:cNvPr>
          <p:cNvCxnSpPr>
            <a:stCxn id="20" idx="3"/>
          </p:cNvCxnSpPr>
          <p:nvPr/>
        </p:nvCxnSpPr>
        <p:spPr bwMode="auto">
          <a:xfrm flipH="1">
            <a:off x="320039" y="1772988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ED8C9D-F71A-4EFB-96AB-D0EC6938BE39}"/>
              </a:ext>
            </a:extLst>
          </p:cNvPr>
          <p:cNvCxnSpPr>
            <a:cxnSpLocks/>
          </p:cNvCxnSpPr>
          <p:nvPr/>
        </p:nvCxnSpPr>
        <p:spPr bwMode="auto">
          <a:xfrm>
            <a:off x="391885" y="2177155"/>
            <a:ext cx="0" cy="123987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552150C-050F-C361-25AE-2648C64D3348}"/>
              </a:ext>
            </a:extLst>
          </p:cNvPr>
          <p:cNvSpPr/>
          <p:nvPr/>
        </p:nvSpPr>
        <p:spPr bwMode="auto">
          <a:xfrm>
            <a:off x="766352" y="3061862"/>
            <a:ext cx="1084213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Wrangling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215D16-E9C9-62DA-4F4E-7BC4A4D84B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0565" y="341703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7367F-4261-F6A3-36C0-6398ECAAA184}"/>
              </a:ext>
            </a:extLst>
          </p:cNvPr>
          <p:cNvSpPr/>
          <p:nvPr/>
        </p:nvSpPr>
        <p:spPr bwMode="auto">
          <a:xfrm>
            <a:off x="2160246" y="3059978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Flat File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4F53C7-8F3A-1F2D-FB92-93D229700187}"/>
              </a:ext>
            </a:extLst>
          </p:cNvPr>
          <p:cNvSpPr/>
          <p:nvPr/>
        </p:nvSpPr>
        <p:spPr bwMode="auto">
          <a:xfrm>
            <a:off x="3790386" y="3059977"/>
            <a:ext cx="124532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98C35-1F50-3A9B-24DA-E8D3E88070CC}"/>
              </a:ext>
            </a:extLst>
          </p:cNvPr>
          <p:cNvCxnSpPr>
            <a:cxnSpLocks/>
          </p:cNvCxnSpPr>
          <p:nvPr/>
        </p:nvCxnSpPr>
        <p:spPr bwMode="auto">
          <a:xfrm>
            <a:off x="5000331" y="3380328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94A4EF-7CFC-8A2E-CC2B-494EF2780E73}"/>
              </a:ext>
            </a:extLst>
          </p:cNvPr>
          <p:cNvSpPr/>
          <p:nvPr/>
        </p:nvSpPr>
        <p:spPr bwMode="auto">
          <a:xfrm>
            <a:off x="5390047" y="3064333"/>
            <a:ext cx="110217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712DB-53E5-039D-9F33-12CAC726F9F9}"/>
              </a:ext>
            </a:extLst>
          </p:cNvPr>
          <p:cNvSpPr/>
          <p:nvPr/>
        </p:nvSpPr>
        <p:spPr bwMode="auto">
          <a:xfrm>
            <a:off x="1105170" y="4739654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Specific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Pre-Processing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FA9F4-0E78-3D17-FE2F-B71F5ECBC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3741" y="5058407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79BC2-9DE0-4270-B5A1-4EB3F0CA42D3}"/>
              </a:ext>
            </a:extLst>
          </p:cNvPr>
          <p:cNvSpPr/>
          <p:nvPr/>
        </p:nvSpPr>
        <p:spPr bwMode="auto">
          <a:xfrm>
            <a:off x="3580856" y="4701355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92154B-3A4F-D3EE-E1CD-61B733B0F7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3735" y="5015452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B30D6-C8AB-D10E-113B-CC3547648E16}"/>
              </a:ext>
            </a:extLst>
          </p:cNvPr>
          <p:cNvSpPr/>
          <p:nvPr/>
        </p:nvSpPr>
        <p:spPr bwMode="auto">
          <a:xfrm>
            <a:off x="5150850" y="4695101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B3EBE7-AE3D-F6E0-9F36-F12B9333F641}"/>
              </a:ext>
            </a:extLst>
          </p:cNvPr>
          <p:cNvCxnSpPr>
            <a:cxnSpLocks/>
          </p:cNvCxnSpPr>
          <p:nvPr/>
        </p:nvCxnSpPr>
        <p:spPr bwMode="auto">
          <a:xfrm>
            <a:off x="422905" y="5084730"/>
            <a:ext cx="705394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075313-7918-928F-FC9C-1F214162F0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389" y="3510360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2D411F-0F11-E82E-19E2-D7F8AD7D8592}"/>
              </a:ext>
            </a:extLst>
          </p:cNvPr>
          <p:cNvCxnSpPr>
            <a:cxnSpLocks/>
          </p:cNvCxnSpPr>
          <p:nvPr/>
        </p:nvCxnSpPr>
        <p:spPr bwMode="auto">
          <a:xfrm>
            <a:off x="391885" y="3949363"/>
            <a:ext cx="4350" cy="113536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4DB1C53-D267-4C2A-1701-8362B037D736}"/>
              </a:ext>
            </a:extLst>
          </p:cNvPr>
          <p:cNvCxnSpPr>
            <a:cxnSpLocks/>
          </p:cNvCxnSpPr>
          <p:nvPr/>
        </p:nvCxnSpPr>
        <p:spPr bwMode="auto">
          <a:xfrm>
            <a:off x="3437139" y="3410802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21A176-903B-0008-68AB-D6FD3C6B6805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8191" y="501980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9BCF549-3AB9-6242-82E1-214CF74D72BF}"/>
              </a:ext>
            </a:extLst>
          </p:cNvPr>
          <p:cNvSpPr/>
          <p:nvPr/>
        </p:nvSpPr>
        <p:spPr bwMode="auto">
          <a:xfrm>
            <a:off x="6975306" y="4699449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8626A0-2D1B-805D-CDE3-9DC20BA2E715}"/>
              </a:ext>
            </a:extLst>
          </p:cNvPr>
          <p:cNvCxnSpPr>
            <a:cxnSpLocks/>
          </p:cNvCxnSpPr>
          <p:nvPr/>
        </p:nvCxnSpPr>
        <p:spPr bwMode="auto">
          <a:xfrm>
            <a:off x="1682655" y="2821582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B1B65E-2539-04A5-AB60-647078F77338}"/>
              </a:ext>
            </a:extLst>
          </p:cNvPr>
          <p:cNvCxnSpPr>
            <a:cxnSpLocks/>
          </p:cNvCxnSpPr>
          <p:nvPr/>
        </p:nvCxnSpPr>
        <p:spPr bwMode="auto">
          <a:xfrm>
            <a:off x="931270" y="4492939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CF464-8E58-7028-E38F-F42D6566D74E}"/>
              </a:ext>
            </a:extLst>
          </p:cNvPr>
          <p:cNvCxnSpPr>
            <a:cxnSpLocks/>
          </p:cNvCxnSpPr>
          <p:nvPr/>
        </p:nvCxnSpPr>
        <p:spPr bwMode="auto">
          <a:xfrm>
            <a:off x="1240432" y="4497288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0702C-41BA-44D0-D391-738BF548D3A2}"/>
              </a:ext>
            </a:extLst>
          </p:cNvPr>
          <p:cNvSpPr/>
          <p:nvPr/>
        </p:nvSpPr>
        <p:spPr bwMode="auto">
          <a:xfrm>
            <a:off x="6754319" y="2974843"/>
            <a:ext cx="1245326" cy="899391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Draft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852F8A-8DE9-538E-BBE9-087CBD4E4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0025" y="341673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35E81F-B81F-CED7-0B7C-6D1C2D940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3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482558-9E34-1F70-317D-B8C83F389DBB}"/>
              </a:ext>
            </a:extLst>
          </p:cNvPr>
          <p:cNvSpPr/>
          <p:nvPr/>
        </p:nvSpPr>
        <p:spPr bwMode="auto">
          <a:xfrm>
            <a:off x="6737131" y="808080"/>
            <a:ext cx="1384663" cy="691871"/>
          </a:xfrm>
          <a:prstGeom prst="ellipse">
            <a:avLst/>
          </a:prstGeom>
          <a:solidFill>
            <a:srgbClr val="00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SQL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AAE48F-5F19-15B6-E001-03949D014EAF}"/>
              </a:ext>
            </a:extLst>
          </p:cNvPr>
          <p:cNvCxnSpPr/>
          <p:nvPr/>
        </p:nvCxnSpPr>
        <p:spPr bwMode="auto">
          <a:xfrm flipH="1">
            <a:off x="1105170" y="975360"/>
            <a:ext cx="5352780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EC32F9-FB9B-B74B-8913-9C7D01BECD1B}"/>
              </a:ext>
            </a:extLst>
          </p:cNvPr>
          <p:cNvCxnSpPr/>
          <p:nvPr/>
        </p:nvCxnSpPr>
        <p:spPr bwMode="auto">
          <a:xfrm>
            <a:off x="6457950" y="600891"/>
            <a:ext cx="0" cy="157626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863099-BF3B-8B00-7FFE-7CD9506324FA}"/>
              </a:ext>
            </a:extLst>
          </p:cNvPr>
          <p:cNvCxnSpPr/>
          <p:nvPr/>
        </p:nvCxnSpPr>
        <p:spPr bwMode="auto">
          <a:xfrm flipH="1">
            <a:off x="6209211" y="3874234"/>
            <a:ext cx="862149" cy="82712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triangle"/>
            <a:tailEnd type="triangle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54D852C-76AA-E5B9-77D5-0ECC717385F8}"/>
              </a:ext>
            </a:extLst>
          </p:cNvPr>
          <p:cNvSpPr/>
          <p:nvPr/>
        </p:nvSpPr>
        <p:spPr bwMode="auto">
          <a:xfrm>
            <a:off x="5279010" y="2974843"/>
            <a:ext cx="1315251" cy="97452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5" name="Graphic 24" descr="Checklist outline">
            <a:extLst>
              <a:ext uri="{FF2B5EF4-FFF2-40B4-BE49-F238E27FC236}">
                <a16:creationId xmlns:a16="http://schemas.microsoft.com/office/drawing/2014/main" id="{B47BC258-6ABB-194B-C1A1-08B7212E5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9436" y="2339892"/>
            <a:ext cx="914400" cy="914400"/>
          </a:xfrm>
          <a:prstGeom prst="rect">
            <a:avLst/>
          </a:prstGeom>
        </p:spPr>
      </p:pic>
      <p:pic>
        <p:nvPicPr>
          <p:cNvPr id="27" name="Graphic 26" descr="Checklist outline">
            <a:extLst>
              <a:ext uri="{FF2B5EF4-FFF2-40B4-BE49-F238E27FC236}">
                <a16:creationId xmlns:a16="http://schemas.microsoft.com/office/drawing/2014/main" id="{93A24F71-82D3-3801-0D94-44D7A545B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9598" y="2333717"/>
            <a:ext cx="914400" cy="914400"/>
          </a:xfrm>
          <a:prstGeom prst="rect">
            <a:avLst/>
          </a:prstGeom>
        </p:spPr>
      </p:pic>
      <p:pic>
        <p:nvPicPr>
          <p:cNvPr id="28" name="Graphic 27" descr="Checklist outline">
            <a:extLst>
              <a:ext uri="{FF2B5EF4-FFF2-40B4-BE49-F238E27FC236}">
                <a16:creationId xmlns:a16="http://schemas.microsoft.com/office/drawing/2014/main" id="{5F2C53DE-AA0A-1EFB-C31F-1BD8763A0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771" y="23707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68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17F82E5-B1DA-4514-AE71-B3343A01CFFA}"/>
              </a:ext>
            </a:extLst>
          </p:cNvPr>
          <p:cNvSpPr/>
          <p:nvPr/>
        </p:nvSpPr>
        <p:spPr bwMode="auto">
          <a:xfrm>
            <a:off x="2048942" y="2797092"/>
            <a:ext cx="6328705" cy="1343833"/>
          </a:xfrm>
          <a:prstGeom prst="roundRect">
            <a:avLst/>
          </a:prstGeom>
          <a:solidFill>
            <a:srgbClr val="FFFAE5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2B0D4-215D-F5A0-EFBA-BD9052C5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276"/>
            <a:ext cx="8305800" cy="992187"/>
          </a:xfrm>
        </p:spPr>
        <p:txBody>
          <a:bodyPr/>
          <a:lstStyle/>
          <a:p>
            <a:r>
              <a:rPr lang="en-US" sz="3600" b="1" dirty="0"/>
              <a:t>The Data Flow: Is it Really Linear?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05AAB-61D8-C4A1-7952-BB7F34FAB34D}"/>
              </a:ext>
            </a:extLst>
          </p:cNvPr>
          <p:cNvSpPr/>
          <p:nvPr/>
        </p:nvSpPr>
        <p:spPr bwMode="auto">
          <a:xfrm>
            <a:off x="1105988" y="1377248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Database/Research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E4B4E-40D6-0667-4803-F982234850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6942" y="172994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D69C91-8741-5E1A-30FA-53B55BDA12D1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>
            <a:off x="788669" y="1729945"/>
            <a:ext cx="317319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1F9D6-95B8-D6D2-7CEC-6485CE8DDC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9846" y="3410802"/>
            <a:ext cx="361406" cy="6228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B2286D-3F69-EF0F-503F-66FBCBC992E5}"/>
              </a:ext>
            </a:extLst>
          </p:cNvPr>
          <p:cNvSpPr/>
          <p:nvPr/>
        </p:nvSpPr>
        <p:spPr bwMode="auto">
          <a:xfrm>
            <a:off x="117021" y="1397239"/>
            <a:ext cx="654231" cy="612572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83FFA-5E5C-DA90-6700-E687E23A8AEA}"/>
              </a:ext>
            </a:extLst>
          </p:cNvPr>
          <p:cNvSpPr/>
          <p:nvPr/>
        </p:nvSpPr>
        <p:spPr bwMode="auto">
          <a:xfrm>
            <a:off x="3614057" y="1372893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BEC1E4-A68E-5309-3546-CCA016236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9383" y="1754291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D52CE-A711-2D7F-43C0-44E13D78BBDD}"/>
              </a:ext>
            </a:extLst>
          </p:cNvPr>
          <p:cNvSpPr/>
          <p:nvPr/>
        </p:nvSpPr>
        <p:spPr bwMode="auto">
          <a:xfrm>
            <a:off x="5186498" y="1397239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06591-4044-D0D6-ECF7-535B9D8E1A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31824" y="1772988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88F10-918F-26EF-8A84-4CF992E7F252}"/>
              </a:ext>
            </a:extLst>
          </p:cNvPr>
          <p:cNvSpPr/>
          <p:nvPr/>
        </p:nvSpPr>
        <p:spPr bwMode="auto">
          <a:xfrm>
            <a:off x="6758939" y="1415936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325D63-BC6D-7687-68C3-3371B75E4D28}"/>
              </a:ext>
            </a:extLst>
          </p:cNvPr>
          <p:cNvCxnSpPr>
            <a:stCxn id="20" idx="3"/>
          </p:cNvCxnSpPr>
          <p:nvPr/>
        </p:nvCxnSpPr>
        <p:spPr bwMode="auto">
          <a:xfrm flipH="1">
            <a:off x="320039" y="1772988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ED8C9D-F71A-4EFB-96AB-D0EC6938BE39}"/>
              </a:ext>
            </a:extLst>
          </p:cNvPr>
          <p:cNvCxnSpPr>
            <a:cxnSpLocks/>
          </p:cNvCxnSpPr>
          <p:nvPr/>
        </p:nvCxnSpPr>
        <p:spPr bwMode="auto">
          <a:xfrm>
            <a:off x="391885" y="2177155"/>
            <a:ext cx="0" cy="123987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552150C-050F-C361-25AE-2648C64D3348}"/>
              </a:ext>
            </a:extLst>
          </p:cNvPr>
          <p:cNvSpPr/>
          <p:nvPr/>
        </p:nvSpPr>
        <p:spPr bwMode="auto">
          <a:xfrm>
            <a:off x="766352" y="3061862"/>
            <a:ext cx="1084213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Wrangling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215D16-E9C9-62DA-4F4E-7BC4A4D84B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0565" y="341703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7367F-4261-F6A3-36C0-6398ECAAA184}"/>
              </a:ext>
            </a:extLst>
          </p:cNvPr>
          <p:cNvSpPr/>
          <p:nvPr/>
        </p:nvSpPr>
        <p:spPr bwMode="auto">
          <a:xfrm>
            <a:off x="2160246" y="3059978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Flat File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4F53C7-8F3A-1F2D-FB92-93D229700187}"/>
              </a:ext>
            </a:extLst>
          </p:cNvPr>
          <p:cNvSpPr/>
          <p:nvPr/>
        </p:nvSpPr>
        <p:spPr bwMode="auto">
          <a:xfrm>
            <a:off x="3790386" y="3059977"/>
            <a:ext cx="124532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98C35-1F50-3A9B-24DA-E8D3E88070CC}"/>
              </a:ext>
            </a:extLst>
          </p:cNvPr>
          <p:cNvCxnSpPr>
            <a:cxnSpLocks/>
          </p:cNvCxnSpPr>
          <p:nvPr/>
        </p:nvCxnSpPr>
        <p:spPr bwMode="auto">
          <a:xfrm>
            <a:off x="5000331" y="3380328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94A4EF-7CFC-8A2E-CC2B-494EF2780E73}"/>
              </a:ext>
            </a:extLst>
          </p:cNvPr>
          <p:cNvSpPr/>
          <p:nvPr/>
        </p:nvSpPr>
        <p:spPr bwMode="auto">
          <a:xfrm>
            <a:off x="5390047" y="3064333"/>
            <a:ext cx="110217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712DB-53E5-039D-9F33-12CAC726F9F9}"/>
              </a:ext>
            </a:extLst>
          </p:cNvPr>
          <p:cNvSpPr/>
          <p:nvPr/>
        </p:nvSpPr>
        <p:spPr bwMode="auto">
          <a:xfrm>
            <a:off x="1105170" y="4739654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Specific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Pre-Processing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FA9F4-0E78-3D17-FE2F-B71F5ECBC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3741" y="5058407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79BC2-9DE0-4270-B5A1-4EB3F0CA42D3}"/>
              </a:ext>
            </a:extLst>
          </p:cNvPr>
          <p:cNvSpPr/>
          <p:nvPr/>
        </p:nvSpPr>
        <p:spPr bwMode="auto">
          <a:xfrm>
            <a:off x="3580856" y="4701355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92154B-3A4F-D3EE-E1CD-61B733B0F7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3735" y="5015452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B30D6-C8AB-D10E-113B-CC3547648E16}"/>
              </a:ext>
            </a:extLst>
          </p:cNvPr>
          <p:cNvSpPr/>
          <p:nvPr/>
        </p:nvSpPr>
        <p:spPr bwMode="auto">
          <a:xfrm>
            <a:off x="5150850" y="4695101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B3EBE7-AE3D-F6E0-9F36-F12B9333F641}"/>
              </a:ext>
            </a:extLst>
          </p:cNvPr>
          <p:cNvCxnSpPr>
            <a:cxnSpLocks/>
          </p:cNvCxnSpPr>
          <p:nvPr/>
        </p:nvCxnSpPr>
        <p:spPr bwMode="auto">
          <a:xfrm>
            <a:off x="422905" y="5084730"/>
            <a:ext cx="705394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075313-7918-928F-FC9C-1F214162F0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389" y="3510360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2D411F-0F11-E82E-19E2-D7F8AD7D8592}"/>
              </a:ext>
            </a:extLst>
          </p:cNvPr>
          <p:cNvCxnSpPr>
            <a:cxnSpLocks/>
          </p:cNvCxnSpPr>
          <p:nvPr/>
        </p:nvCxnSpPr>
        <p:spPr bwMode="auto">
          <a:xfrm>
            <a:off x="391885" y="3949363"/>
            <a:ext cx="4350" cy="113536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4DB1C53-D267-4C2A-1701-8362B037D736}"/>
              </a:ext>
            </a:extLst>
          </p:cNvPr>
          <p:cNvCxnSpPr>
            <a:cxnSpLocks/>
          </p:cNvCxnSpPr>
          <p:nvPr/>
        </p:nvCxnSpPr>
        <p:spPr bwMode="auto">
          <a:xfrm>
            <a:off x="3437139" y="3410802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21A176-903B-0008-68AB-D6FD3C6B6805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8191" y="501980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9BCF549-3AB9-6242-82E1-214CF74D72BF}"/>
              </a:ext>
            </a:extLst>
          </p:cNvPr>
          <p:cNvSpPr/>
          <p:nvPr/>
        </p:nvSpPr>
        <p:spPr bwMode="auto">
          <a:xfrm>
            <a:off x="6975306" y="4699449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8626A0-2D1B-805D-CDE3-9DC20BA2E715}"/>
              </a:ext>
            </a:extLst>
          </p:cNvPr>
          <p:cNvCxnSpPr>
            <a:cxnSpLocks/>
          </p:cNvCxnSpPr>
          <p:nvPr/>
        </p:nvCxnSpPr>
        <p:spPr bwMode="auto">
          <a:xfrm>
            <a:off x="1682655" y="2821582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B1B65E-2539-04A5-AB60-647078F77338}"/>
              </a:ext>
            </a:extLst>
          </p:cNvPr>
          <p:cNvCxnSpPr>
            <a:cxnSpLocks/>
          </p:cNvCxnSpPr>
          <p:nvPr/>
        </p:nvCxnSpPr>
        <p:spPr bwMode="auto">
          <a:xfrm>
            <a:off x="931270" y="4492939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CF464-8E58-7028-E38F-F42D6566D74E}"/>
              </a:ext>
            </a:extLst>
          </p:cNvPr>
          <p:cNvCxnSpPr>
            <a:cxnSpLocks/>
          </p:cNvCxnSpPr>
          <p:nvPr/>
        </p:nvCxnSpPr>
        <p:spPr bwMode="auto">
          <a:xfrm>
            <a:off x="1240432" y="4497288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0702C-41BA-44D0-D391-738BF548D3A2}"/>
              </a:ext>
            </a:extLst>
          </p:cNvPr>
          <p:cNvSpPr/>
          <p:nvPr/>
        </p:nvSpPr>
        <p:spPr bwMode="auto">
          <a:xfrm>
            <a:off x="6754319" y="2974843"/>
            <a:ext cx="1245326" cy="899391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Draft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852F8A-8DE9-538E-BBE9-087CBD4E4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0025" y="341673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35E81F-B81F-CED7-0B7C-6D1C2D940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4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EBB2DA-EBA1-C006-C985-B494B326A459}"/>
              </a:ext>
            </a:extLst>
          </p:cNvPr>
          <p:cNvSpPr/>
          <p:nvPr/>
        </p:nvSpPr>
        <p:spPr bwMode="auto">
          <a:xfrm>
            <a:off x="-327970" y="1604733"/>
            <a:ext cx="8194765" cy="4136572"/>
          </a:xfrm>
          <a:custGeom>
            <a:avLst/>
            <a:gdLst>
              <a:gd name="connsiteX0" fmla="*/ 3762103 w 8194765"/>
              <a:gd name="connsiteY0" fmla="*/ 1872343 h 4136572"/>
              <a:gd name="connsiteX1" fmla="*/ 6000205 w 8194765"/>
              <a:gd name="connsiteY1" fmla="*/ 1750423 h 4136572"/>
              <a:gd name="connsiteX2" fmla="*/ 6522720 w 8194765"/>
              <a:gd name="connsiteY2" fmla="*/ 1393372 h 4136572"/>
              <a:gd name="connsiteX3" fmla="*/ 6365965 w 8194765"/>
              <a:gd name="connsiteY3" fmla="*/ 1297577 h 4136572"/>
              <a:gd name="connsiteX4" fmla="*/ 5843451 w 8194765"/>
              <a:gd name="connsiteY4" fmla="*/ 1341120 h 4136572"/>
              <a:gd name="connsiteX5" fmla="*/ 5503817 w 8194765"/>
              <a:gd name="connsiteY5" fmla="*/ 1393372 h 4136572"/>
              <a:gd name="connsiteX6" fmla="*/ 5207725 w 8194765"/>
              <a:gd name="connsiteY6" fmla="*/ 1419497 h 4136572"/>
              <a:gd name="connsiteX7" fmla="*/ 4894217 w 8194765"/>
              <a:gd name="connsiteY7" fmla="*/ 1663337 h 4136572"/>
              <a:gd name="connsiteX8" fmla="*/ 5094514 w 8194765"/>
              <a:gd name="connsiteY8" fmla="*/ 1959429 h 4136572"/>
              <a:gd name="connsiteX9" fmla="*/ 5399314 w 8194765"/>
              <a:gd name="connsiteY9" fmla="*/ 2211977 h 4136572"/>
              <a:gd name="connsiteX10" fmla="*/ 5468983 w 8194765"/>
              <a:gd name="connsiteY10" fmla="*/ 2272937 h 4136572"/>
              <a:gd name="connsiteX11" fmla="*/ 4145280 w 8194765"/>
              <a:gd name="connsiteY11" fmla="*/ 2412275 h 4136572"/>
              <a:gd name="connsiteX12" fmla="*/ 3692434 w 8194765"/>
              <a:gd name="connsiteY12" fmla="*/ 2360023 h 4136572"/>
              <a:gd name="connsiteX13" fmla="*/ 3579223 w 8194765"/>
              <a:gd name="connsiteY13" fmla="*/ 2481943 h 4136572"/>
              <a:gd name="connsiteX14" fmla="*/ 2656114 w 8194765"/>
              <a:gd name="connsiteY14" fmla="*/ 2490652 h 4136572"/>
              <a:gd name="connsiteX15" fmla="*/ 2081348 w 8194765"/>
              <a:gd name="connsiteY15" fmla="*/ 2220686 h 4136572"/>
              <a:gd name="connsiteX16" fmla="*/ 2098765 w 8194765"/>
              <a:gd name="connsiteY16" fmla="*/ 1532709 h 4136572"/>
              <a:gd name="connsiteX17" fmla="*/ 2717074 w 8194765"/>
              <a:gd name="connsiteY17" fmla="*/ 1045029 h 4136572"/>
              <a:gd name="connsiteX18" fmla="*/ 3457303 w 8194765"/>
              <a:gd name="connsiteY18" fmla="*/ 574766 h 4136572"/>
              <a:gd name="connsiteX19" fmla="*/ 3631474 w 8194765"/>
              <a:gd name="connsiteY19" fmla="*/ 357052 h 4136572"/>
              <a:gd name="connsiteX20" fmla="*/ 3675017 w 8194765"/>
              <a:gd name="connsiteY20" fmla="*/ 252549 h 4136572"/>
              <a:gd name="connsiteX21" fmla="*/ 4528457 w 8194765"/>
              <a:gd name="connsiteY21" fmla="*/ 0 h 4136572"/>
              <a:gd name="connsiteX22" fmla="*/ 5364480 w 8194765"/>
              <a:gd name="connsiteY22" fmla="*/ 121920 h 4136572"/>
              <a:gd name="connsiteX23" fmla="*/ 5486400 w 8194765"/>
              <a:gd name="connsiteY23" fmla="*/ 235132 h 4136572"/>
              <a:gd name="connsiteX24" fmla="*/ 5643154 w 8194765"/>
              <a:gd name="connsiteY24" fmla="*/ 531223 h 4136572"/>
              <a:gd name="connsiteX25" fmla="*/ 6043748 w 8194765"/>
              <a:gd name="connsiteY25" fmla="*/ 1018903 h 4136572"/>
              <a:gd name="connsiteX26" fmla="*/ 6165668 w 8194765"/>
              <a:gd name="connsiteY26" fmla="*/ 1053737 h 4136572"/>
              <a:gd name="connsiteX27" fmla="*/ 6522720 w 8194765"/>
              <a:gd name="connsiteY27" fmla="*/ 609600 h 4136572"/>
              <a:gd name="connsiteX28" fmla="*/ 7036525 w 8194765"/>
              <a:gd name="connsiteY28" fmla="*/ 209006 h 4136572"/>
              <a:gd name="connsiteX29" fmla="*/ 7367451 w 8194765"/>
              <a:gd name="connsiteY29" fmla="*/ 600892 h 4136572"/>
              <a:gd name="connsiteX30" fmla="*/ 7654834 w 8194765"/>
              <a:gd name="connsiteY30" fmla="*/ 1384663 h 4136572"/>
              <a:gd name="connsiteX31" fmla="*/ 7750628 w 8194765"/>
              <a:gd name="connsiteY31" fmla="*/ 2072640 h 4136572"/>
              <a:gd name="connsiteX32" fmla="*/ 7889965 w 8194765"/>
              <a:gd name="connsiteY32" fmla="*/ 2473235 h 4136572"/>
              <a:gd name="connsiteX33" fmla="*/ 7985760 w 8194765"/>
              <a:gd name="connsiteY33" fmla="*/ 2952206 h 4136572"/>
              <a:gd name="connsiteX34" fmla="*/ 7663543 w 8194765"/>
              <a:gd name="connsiteY34" fmla="*/ 3178629 h 4136572"/>
              <a:gd name="connsiteX35" fmla="*/ 6496594 w 8194765"/>
              <a:gd name="connsiteY35" fmla="*/ 3117669 h 4136572"/>
              <a:gd name="connsiteX36" fmla="*/ 6522720 w 8194765"/>
              <a:gd name="connsiteY36" fmla="*/ 3483429 h 4136572"/>
              <a:gd name="connsiteX37" fmla="*/ 6531428 w 8194765"/>
              <a:gd name="connsiteY37" fmla="*/ 3587932 h 4136572"/>
              <a:gd name="connsiteX38" fmla="*/ 6514011 w 8194765"/>
              <a:gd name="connsiteY38" fmla="*/ 3614057 h 4136572"/>
              <a:gd name="connsiteX39" fmla="*/ 5233851 w 8194765"/>
              <a:gd name="connsiteY39" fmla="*/ 3448595 h 4136572"/>
              <a:gd name="connsiteX40" fmla="*/ 4685211 w 8194765"/>
              <a:gd name="connsiteY40" fmla="*/ 3335383 h 4136572"/>
              <a:gd name="connsiteX41" fmla="*/ 4606834 w 8194765"/>
              <a:gd name="connsiteY41" fmla="*/ 3422469 h 4136572"/>
              <a:gd name="connsiteX42" fmla="*/ 4554583 w 8194765"/>
              <a:gd name="connsiteY42" fmla="*/ 3535680 h 4136572"/>
              <a:gd name="connsiteX43" fmla="*/ 4397828 w 8194765"/>
              <a:gd name="connsiteY43" fmla="*/ 3561806 h 4136572"/>
              <a:gd name="connsiteX44" fmla="*/ 3762103 w 8194765"/>
              <a:gd name="connsiteY44" fmla="*/ 3526972 h 4136572"/>
              <a:gd name="connsiteX45" fmla="*/ 3230880 w 8194765"/>
              <a:gd name="connsiteY45" fmla="*/ 3439886 h 4136572"/>
              <a:gd name="connsiteX46" fmla="*/ 2943497 w 8194765"/>
              <a:gd name="connsiteY46" fmla="*/ 3492137 h 4136572"/>
              <a:gd name="connsiteX47" fmla="*/ 2725783 w 8194765"/>
              <a:gd name="connsiteY47" fmla="*/ 3431177 h 4136572"/>
              <a:gd name="connsiteX48" fmla="*/ 2447108 w 8194765"/>
              <a:gd name="connsiteY48" fmla="*/ 3248297 h 4136572"/>
              <a:gd name="connsiteX49" fmla="*/ 2368731 w 8194765"/>
              <a:gd name="connsiteY49" fmla="*/ 2952206 h 4136572"/>
              <a:gd name="connsiteX50" fmla="*/ 2499360 w 8194765"/>
              <a:gd name="connsiteY50" fmla="*/ 2908663 h 4136572"/>
              <a:gd name="connsiteX51" fmla="*/ 3370217 w 8194765"/>
              <a:gd name="connsiteY51" fmla="*/ 2838995 h 4136572"/>
              <a:gd name="connsiteX52" fmla="*/ 3666308 w 8194765"/>
              <a:gd name="connsiteY52" fmla="*/ 2795452 h 4136572"/>
              <a:gd name="connsiteX53" fmla="*/ 3814354 w 8194765"/>
              <a:gd name="connsiteY53" fmla="*/ 2778035 h 4136572"/>
              <a:gd name="connsiteX54" fmla="*/ 4075611 w 8194765"/>
              <a:gd name="connsiteY54" fmla="*/ 2743200 h 4136572"/>
              <a:gd name="connsiteX55" fmla="*/ 4441371 w 8194765"/>
              <a:gd name="connsiteY55" fmla="*/ 2717075 h 4136572"/>
              <a:gd name="connsiteX56" fmla="*/ 4937760 w 8194765"/>
              <a:gd name="connsiteY56" fmla="*/ 2760617 h 4136572"/>
              <a:gd name="connsiteX57" fmla="*/ 5294811 w 8194765"/>
              <a:gd name="connsiteY57" fmla="*/ 2717075 h 4136572"/>
              <a:gd name="connsiteX58" fmla="*/ 5991497 w 8194765"/>
              <a:gd name="connsiteY58" fmla="*/ 2569029 h 4136572"/>
              <a:gd name="connsiteX59" fmla="*/ 6679474 w 8194765"/>
              <a:gd name="connsiteY59" fmla="*/ 2377440 h 4136572"/>
              <a:gd name="connsiteX60" fmla="*/ 6418217 w 8194765"/>
              <a:gd name="connsiteY60" fmla="*/ 2316480 h 4136572"/>
              <a:gd name="connsiteX61" fmla="*/ 5660571 w 8194765"/>
              <a:gd name="connsiteY61" fmla="*/ 2194560 h 4136572"/>
              <a:gd name="connsiteX62" fmla="*/ 4693920 w 8194765"/>
              <a:gd name="connsiteY62" fmla="*/ 1915886 h 4136572"/>
              <a:gd name="connsiteX63" fmla="*/ 4415245 w 8194765"/>
              <a:gd name="connsiteY63" fmla="*/ 1985555 h 4136572"/>
              <a:gd name="connsiteX64" fmla="*/ 4014651 w 8194765"/>
              <a:gd name="connsiteY64" fmla="*/ 2159726 h 4136572"/>
              <a:gd name="connsiteX65" fmla="*/ 3587931 w 8194765"/>
              <a:gd name="connsiteY65" fmla="*/ 2194560 h 4136572"/>
              <a:gd name="connsiteX66" fmla="*/ 3466011 w 8194765"/>
              <a:gd name="connsiteY66" fmla="*/ 2159726 h 4136572"/>
              <a:gd name="connsiteX67" fmla="*/ 3265714 w 8194765"/>
              <a:gd name="connsiteY67" fmla="*/ 2037806 h 4136572"/>
              <a:gd name="connsiteX68" fmla="*/ 3204754 w 8194765"/>
              <a:gd name="connsiteY68" fmla="*/ 1950720 h 4136572"/>
              <a:gd name="connsiteX69" fmla="*/ 3317965 w 8194765"/>
              <a:gd name="connsiteY69" fmla="*/ 1628503 h 4136572"/>
              <a:gd name="connsiteX70" fmla="*/ 4188823 w 8194765"/>
              <a:gd name="connsiteY70" fmla="*/ 1480457 h 4136572"/>
              <a:gd name="connsiteX71" fmla="*/ 5199017 w 8194765"/>
              <a:gd name="connsiteY71" fmla="*/ 1149532 h 4136572"/>
              <a:gd name="connsiteX72" fmla="*/ 5451565 w 8194765"/>
              <a:gd name="connsiteY72" fmla="*/ 1306286 h 4136572"/>
              <a:gd name="connsiteX73" fmla="*/ 5765074 w 8194765"/>
              <a:gd name="connsiteY73" fmla="*/ 1384663 h 4136572"/>
              <a:gd name="connsiteX74" fmla="*/ 5974080 w 8194765"/>
              <a:gd name="connsiteY74" fmla="*/ 1445623 h 4136572"/>
              <a:gd name="connsiteX75" fmla="*/ 6400800 w 8194765"/>
              <a:gd name="connsiteY75" fmla="*/ 1637212 h 4136572"/>
              <a:gd name="connsiteX76" fmla="*/ 6487885 w 8194765"/>
              <a:gd name="connsiteY76" fmla="*/ 1689463 h 4136572"/>
              <a:gd name="connsiteX77" fmla="*/ 6801394 w 8194765"/>
              <a:gd name="connsiteY77" fmla="*/ 2063932 h 4136572"/>
              <a:gd name="connsiteX78" fmla="*/ 6923314 w 8194765"/>
              <a:gd name="connsiteY78" fmla="*/ 2142309 h 4136572"/>
              <a:gd name="connsiteX79" fmla="*/ 7245531 w 8194765"/>
              <a:gd name="connsiteY79" fmla="*/ 2063932 h 4136572"/>
              <a:gd name="connsiteX80" fmla="*/ 7602583 w 8194765"/>
              <a:gd name="connsiteY80" fmla="*/ 2002972 h 4136572"/>
              <a:gd name="connsiteX81" fmla="*/ 7707085 w 8194765"/>
              <a:gd name="connsiteY81" fmla="*/ 2011680 h 4136572"/>
              <a:gd name="connsiteX82" fmla="*/ 7829005 w 8194765"/>
              <a:gd name="connsiteY82" fmla="*/ 2055223 h 4136572"/>
              <a:gd name="connsiteX83" fmla="*/ 7942217 w 8194765"/>
              <a:gd name="connsiteY83" fmla="*/ 2037806 h 4136572"/>
              <a:gd name="connsiteX84" fmla="*/ 8186057 w 8194765"/>
              <a:gd name="connsiteY84" fmla="*/ 1715589 h 4136572"/>
              <a:gd name="connsiteX85" fmla="*/ 8194765 w 8194765"/>
              <a:gd name="connsiteY85" fmla="*/ 1602377 h 4136572"/>
              <a:gd name="connsiteX86" fmla="*/ 8125097 w 8194765"/>
              <a:gd name="connsiteY86" fmla="*/ 1245326 h 4136572"/>
              <a:gd name="connsiteX87" fmla="*/ 8090263 w 8194765"/>
              <a:gd name="connsiteY87" fmla="*/ 1079863 h 4136572"/>
              <a:gd name="connsiteX88" fmla="*/ 7977051 w 8194765"/>
              <a:gd name="connsiteY88" fmla="*/ 705395 h 4136572"/>
              <a:gd name="connsiteX89" fmla="*/ 7924800 w 8194765"/>
              <a:gd name="connsiteY89" fmla="*/ 418012 h 4136572"/>
              <a:gd name="connsiteX90" fmla="*/ 7829005 w 8194765"/>
              <a:gd name="connsiteY90" fmla="*/ 156755 h 4136572"/>
              <a:gd name="connsiteX91" fmla="*/ 7515497 w 8194765"/>
              <a:gd name="connsiteY91" fmla="*/ 269966 h 4136572"/>
              <a:gd name="connsiteX92" fmla="*/ 7053943 w 8194765"/>
              <a:gd name="connsiteY92" fmla="*/ 313509 h 4136572"/>
              <a:gd name="connsiteX93" fmla="*/ 6505303 w 8194765"/>
              <a:gd name="connsiteY93" fmla="*/ 426720 h 4136572"/>
              <a:gd name="connsiteX94" fmla="*/ 6461760 w 8194765"/>
              <a:gd name="connsiteY94" fmla="*/ 505097 h 4136572"/>
              <a:gd name="connsiteX95" fmla="*/ 6479177 w 8194765"/>
              <a:gd name="connsiteY95" fmla="*/ 966652 h 4136572"/>
              <a:gd name="connsiteX96" fmla="*/ 6531428 w 8194765"/>
              <a:gd name="connsiteY96" fmla="*/ 1184366 h 4136572"/>
              <a:gd name="connsiteX97" fmla="*/ 6548845 w 8194765"/>
              <a:gd name="connsiteY97" fmla="*/ 1367246 h 4136572"/>
              <a:gd name="connsiteX98" fmla="*/ 6487885 w 8194765"/>
              <a:gd name="connsiteY98" fmla="*/ 1837509 h 4136572"/>
              <a:gd name="connsiteX99" fmla="*/ 6444343 w 8194765"/>
              <a:gd name="connsiteY99" fmla="*/ 1933303 h 4136572"/>
              <a:gd name="connsiteX100" fmla="*/ 6348548 w 8194765"/>
              <a:gd name="connsiteY100" fmla="*/ 1959429 h 4136572"/>
              <a:gd name="connsiteX101" fmla="*/ 6078583 w 8194765"/>
              <a:gd name="connsiteY101" fmla="*/ 1985555 h 4136572"/>
              <a:gd name="connsiteX102" fmla="*/ 5381897 w 8194765"/>
              <a:gd name="connsiteY102" fmla="*/ 2046515 h 4136572"/>
              <a:gd name="connsiteX103" fmla="*/ 5077097 w 8194765"/>
              <a:gd name="connsiteY103" fmla="*/ 2107475 h 4136572"/>
              <a:gd name="connsiteX104" fmla="*/ 4902925 w 8194765"/>
              <a:gd name="connsiteY104" fmla="*/ 2194560 h 4136572"/>
              <a:gd name="connsiteX105" fmla="*/ 4467497 w 8194765"/>
              <a:gd name="connsiteY105" fmla="*/ 2307772 h 4136572"/>
              <a:gd name="connsiteX106" fmla="*/ 4423954 w 8194765"/>
              <a:gd name="connsiteY106" fmla="*/ 2386149 h 4136572"/>
              <a:gd name="connsiteX107" fmla="*/ 4589417 w 8194765"/>
              <a:gd name="connsiteY107" fmla="*/ 2638697 h 4136572"/>
              <a:gd name="connsiteX108" fmla="*/ 4615543 w 8194765"/>
              <a:gd name="connsiteY108" fmla="*/ 2769326 h 4136572"/>
              <a:gd name="connsiteX109" fmla="*/ 4493623 w 8194765"/>
              <a:gd name="connsiteY109" fmla="*/ 3021875 h 4136572"/>
              <a:gd name="connsiteX110" fmla="*/ 3744685 w 8194765"/>
              <a:gd name="connsiteY110" fmla="*/ 3535680 h 4136572"/>
              <a:gd name="connsiteX111" fmla="*/ 3143794 w 8194765"/>
              <a:gd name="connsiteY111" fmla="*/ 3579223 h 4136572"/>
              <a:gd name="connsiteX112" fmla="*/ 1959428 w 8194765"/>
              <a:gd name="connsiteY112" fmla="*/ 3439886 h 4136572"/>
              <a:gd name="connsiteX113" fmla="*/ 1619794 w 8194765"/>
              <a:gd name="connsiteY113" fmla="*/ 2943497 h 4136572"/>
              <a:gd name="connsiteX114" fmla="*/ 1567543 w 8194765"/>
              <a:gd name="connsiteY114" fmla="*/ 2342606 h 4136572"/>
              <a:gd name="connsiteX115" fmla="*/ 2081348 w 8194765"/>
              <a:gd name="connsiteY115" fmla="*/ 1942012 h 4136572"/>
              <a:gd name="connsiteX116" fmla="*/ 2464525 w 8194765"/>
              <a:gd name="connsiteY116" fmla="*/ 1724297 h 4136572"/>
              <a:gd name="connsiteX117" fmla="*/ 2751908 w 8194765"/>
              <a:gd name="connsiteY117" fmla="*/ 1541417 h 4136572"/>
              <a:gd name="connsiteX118" fmla="*/ 3474720 w 8194765"/>
              <a:gd name="connsiteY118" fmla="*/ 1419497 h 4136572"/>
              <a:gd name="connsiteX119" fmla="*/ 3831771 w 8194765"/>
              <a:gd name="connsiteY119" fmla="*/ 1349829 h 4136572"/>
              <a:gd name="connsiteX120" fmla="*/ 4249783 w 8194765"/>
              <a:gd name="connsiteY120" fmla="*/ 1384663 h 4136572"/>
              <a:gd name="connsiteX121" fmla="*/ 4972594 w 8194765"/>
              <a:gd name="connsiteY121" fmla="*/ 2151017 h 4136572"/>
              <a:gd name="connsiteX122" fmla="*/ 5138057 w 8194765"/>
              <a:gd name="connsiteY122" fmla="*/ 2751909 h 4136572"/>
              <a:gd name="connsiteX123" fmla="*/ 4807131 w 8194765"/>
              <a:gd name="connsiteY123" fmla="*/ 3291840 h 4136572"/>
              <a:gd name="connsiteX124" fmla="*/ 1158240 w 8194765"/>
              <a:gd name="connsiteY124" fmla="*/ 3918857 h 4136572"/>
              <a:gd name="connsiteX125" fmla="*/ 78377 w 8194765"/>
              <a:gd name="connsiteY125" fmla="*/ 3309257 h 4136572"/>
              <a:gd name="connsiteX126" fmla="*/ 0 w 8194765"/>
              <a:gd name="connsiteY126" fmla="*/ 2995749 h 4136572"/>
              <a:gd name="connsiteX127" fmla="*/ 296091 w 8194765"/>
              <a:gd name="connsiteY127" fmla="*/ 2647406 h 4136572"/>
              <a:gd name="connsiteX128" fmla="*/ 792480 w 8194765"/>
              <a:gd name="connsiteY128" fmla="*/ 2438400 h 4136572"/>
              <a:gd name="connsiteX129" fmla="*/ 2473234 w 8194765"/>
              <a:gd name="connsiteY129" fmla="*/ 2046515 h 4136572"/>
              <a:gd name="connsiteX130" fmla="*/ 3048000 w 8194765"/>
              <a:gd name="connsiteY130" fmla="*/ 2055223 h 4136572"/>
              <a:gd name="connsiteX131" fmla="*/ 3944983 w 8194765"/>
              <a:gd name="connsiteY131" fmla="*/ 2682240 h 4136572"/>
              <a:gd name="connsiteX132" fmla="*/ 4162697 w 8194765"/>
              <a:gd name="connsiteY132" fmla="*/ 3030583 h 4136572"/>
              <a:gd name="connsiteX133" fmla="*/ 4206240 w 8194765"/>
              <a:gd name="connsiteY133" fmla="*/ 3448595 h 4136572"/>
              <a:gd name="connsiteX134" fmla="*/ 4136571 w 8194765"/>
              <a:gd name="connsiteY134" fmla="*/ 3657600 h 4136572"/>
              <a:gd name="connsiteX135" fmla="*/ 4084320 w 8194765"/>
              <a:gd name="connsiteY135" fmla="*/ 3648892 h 4136572"/>
              <a:gd name="connsiteX136" fmla="*/ 4145280 w 8194765"/>
              <a:gd name="connsiteY136" fmla="*/ 3622766 h 4136572"/>
              <a:gd name="connsiteX137" fmla="*/ 4371703 w 8194765"/>
              <a:gd name="connsiteY137" fmla="*/ 3683726 h 4136572"/>
              <a:gd name="connsiteX138" fmla="*/ 4450080 w 8194765"/>
              <a:gd name="connsiteY138" fmla="*/ 3640183 h 4136572"/>
              <a:gd name="connsiteX139" fmla="*/ 4484914 w 8194765"/>
              <a:gd name="connsiteY139" fmla="*/ 3631475 h 4136572"/>
              <a:gd name="connsiteX140" fmla="*/ 4589417 w 8194765"/>
              <a:gd name="connsiteY140" fmla="*/ 3614057 h 4136572"/>
              <a:gd name="connsiteX141" fmla="*/ 4754880 w 8194765"/>
              <a:gd name="connsiteY141" fmla="*/ 3509555 h 4136572"/>
              <a:gd name="connsiteX142" fmla="*/ 4990011 w 8194765"/>
              <a:gd name="connsiteY142" fmla="*/ 3178629 h 4136572"/>
              <a:gd name="connsiteX143" fmla="*/ 5172891 w 8194765"/>
              <a:gd name="connsiteY143" fmla="*/ 2743200 h 4136572"/>
              <a:gd name="connsiteX144" fmla="*/ 5216434 w 8194765"/>
              <a:gd name="connsiteY144" fmla="*/ 2690949 h 4136572"/>
              <a:gd name="connsiteX145" fmla="*/ 5347063 w 8194765"/>
              <a:gd name="connsiteY145" fmla="*/ 2673532 h 4136572"/>
              <a:gd name="connsiteX146" fmla="*/ 5704114 w 8194765"/>
              <a:gd name="connsiteY146" fmla="*/ 2638697 h 4136572"/>
              <a:gd name="connsiteX147" fmla="*/ 6096000 w 8194765"/>
              <a:gd name="connsiteY147" fmla="*/ 2621280 h 4136572"/>
              <a:gd name="connsiteX148" fmla="*/ 6365965 w 8194765"/>
              <a:gd name="connsiteY148" fmla="*/ 2603863 h 4136572"/>
              <a:gd name="connsiteX149" fmla="*/ 6522720 w 8194765"/>
              <a:gd name="connsiteY149" fmla="*/ 2368732 h 4136572"/>
              <a:gd name="connsiteX150" fmla="*/ 6914605 w 8194765"/>
              <a:gd name="connsiteY150" fmla="*/ 1942012 h 4136572"/>
              <a:gd name="connsiteX151" fmla="*/ 6853645 w 8194765"/>
              <a:gd name="connsiteY151" fmla="*/ 1811383 h 4136572"/>
              <a:gd name="connsiteX152" fmla="*/ 6583680 w 8194765"/>
              <a:gd name="connsiteY152" fmla="*/ 1602377 h 4136572"/>
              <a:gd name="connsiteX153" fmla="*/ 5451565 w 8194765"/>
              <a:gd name="connsiteY153" fmla="*/ 1419497 h 4136572"/>
              <a:gd name="connsiteX154" fmla="*/ 4850674 w 8194765"/>
              <a:gd name="connsiteY154" fmla="*/ 1550126 h 4136572"/>
              <a:gd name="connsiteX155" fmla="*/ 4693920 w 8194765"/>
              <a:gd name="connsiteY155" fmla="*/ 1802675 h 4136572"/>
              <a:gd name="connsiteX156" fmla="*/ 5799908 w 8194765"/>
              <a:gd name="connsiteY156" fmla="*/ 2856412 h 4136572"/>
              <a:gd name="connsiteX157" fmla="*/ 7567748 w 8194765"/>
              <a:gd name="connsiteY157" fmla="*/ 3152503 h 4136572"/>
              <a:gd name="connsiteX158" fmla="*/ 7567748 w 8194765"/>
              <a:gd name="connsiteY158" fmla="*/ 2412275 h 4136572"/>
              <a:gd name="connsiteX159" fmla="*/ 6827520 w 8194765"/>
              <a:gd name="connsiteY159" fmla="*/ 1924595 h 4136572"/>
              <a:gd name="connsiteX160" fmla="*/ 5799908 w 8194765"/>
              <a:gd name="connsiteY160" fmla="*/ 1846217 h 4136572"/>
              <a:gd name="connsiteX161" fmla="*/ 5373188 w 8194765"/>
              <a:gd name="connsiteY161" fmla="*/ 1959429 h 4136572"/>
              <a:gd name="connsiteX162" fmla="*/ 5120640 w 8194765"/>
              <a:gd name="connsiteY162" fmla="*/ 2151017 h 4136572"/>
              <a:gd name="connsiteX163" fmla="*/ 4476205 w 8194765"/>
              <a:gd name="connsiteY163" fmla="*/ 2812869 h 4136572"/>
              <a:gd name="connsiteX164" fmla="*/ 4406537 w 8194765"/>
              <a:gd name="connsiteY164" fmla="*/ 2995749 h 4136572"/>
              <a:gd name="connsiteX165" fmla="*/ 4397828 w 8194765"/>
              <a:gd name="connsiteY165" fmla="*/ 3039292 h 4136572"/>
              <a:gd name="connsiteX166" fmla="*/ 4432663 w 8194765"/>
              <a:gd name="connsiteY166" fmla="*/ 3065417 h 4136572"/>
              <a:gd name="connsiteX167" fmla="*/ 4659085 w 8194765"/>
              <a:gd name="connsiteY167" fmla="*/ 3204755 h 4136572"/>
              <a:gd name="connsiteX168" fmla="*/ 4763588 w 8194765"/>
              <a:gd name="connsiteY168" fmla="*/ 3257006 h 4136572"/>
              <a:gd name="connsiteX169" fmla="*/ 5059680 w 8194765"/>
              <a:gd name="connsiteY169" fmla="*/ 3474720 h 4136572"/>
              <a:gd name="connsiteX170" fmla="*/ 5181600 w 8194765"/>
              <a:gd name="connsiteY170" fmla="*/ 3614057 h 4136572"/>
              <a:gd name="connsiteX171" fmla="*/ 5381897 w 8194765"/>
              <a:gd name="connsiteY171" fmla="*/ 3979817 h 4136572"/>
              <a:gd name="connsiteX172" fmla="*/ 5442857 w 8194765"/>
              <a:gd name="connsiteY172" fmla="*/ 4049486 h 4136572"/>
              <a:gd name="connsiteX173" fmla="*/ 5521234 w 8194765"/>
              <a:gd name="connsiteY173" fmla="*/ 4136572 h 4136572"/>
              <a:gd name="connsiteX174" fmla="*/ 5634445 w 8194765"/>
              <a:gd name="connsiteY174" fmla="*/ 4127863 h 4136572"/>
              <a:gd name="connsiteX175" fmla="*/ 5730240 w 8194765"/>
              <a:gd name="connsiteY175" fmla="*/ 4119155 h 4136572"/>
              <a:gd name="connsiteX176" fmla="*/ 5834743 w 8194765"/>
              <a:gd name="connsiteY176" fmla="*/ 4023360 h 4136572"/>
              <a:gd name="connsiteX177" fmla="*/ 5921828 w 8194765"/>
              <a:gd name="connsiteY177" fmla="*/ 3901440 h 4136572"/>
              <a:gd name="connsiteX178" fmla="*/ 6096000 w 8194765"/>
              <a:gd name="connsiteY178" fmla="*/ 3814355 h 4136572"/>
              <a:gd name="connsiteX179" fmla="*/ 6235337 w 8194765"/>
              <a:gd name="connsiteY179" fmla="*/ 3875315 h 4136572"/>
              <a:gd name="connsiteX180" fmla="*/ 6261463 w 8194765"/>
              <a:gd name="connsiteY180" fmla="*/ 3910149 h 4136572"/>
              <a:gd name="connsiteX181" fmla="*/ 6278880 w 8194765"/>
              <a:gd name="connsiteY181" fmla="*/ 3927566 h 413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8194765" h="4136572">
                <a:moveTo>
                  <a:pt x="3762103" y="1872343"/>
                </a:moveTo>
                <a:cubicBezTo>
                  <a:pt x="4508137" y="1831703"/>
                  <a:pt x="5258364" y="1839252"/>
                  <a:pt x="6000205" y="1750423"/>
                </a:cubicBezTo>
                <a:cubicBezTo>
                  <a:pt x="6428855" y="1699096"/>
                  <a:pt x="6412513" y="1641335"/>
                  <a:pt x="6522720" y="1393372"/>
                </a:cubicBezTo>
                <a:cubicBezTo>
                  <a:pt x="6470468" y="1361440"/>
                  <a:pt x="6427021" y="1302274"/>
                  <a:pt x="6365965" y="1297577"/>
                </a:cubicBezTo>
                <a:cubicBezTo>
                  <a:pt x="6191705" y="1284172"/>
                  <a:pt x="6017157" y="1321819"/>
                  <a:pt x="5843451" y="1341120"/>
                </a:cubicBezTo>
                <a:cubicBezTo>
                  <a:pt x="5729608" y="1353769"/>
                  <a:pt x="5617500" y="1379356"/>
                  <a:pt x="5503817" y="1393372"/>
                </a:cubicBezTo>
                <a:cubicBezTo>
                  <a:pt x="5405481" y="1405496"/>
                  <a:pt x="5306422" y="1410789"/>
                  <a:pt x="5207725" y="1419497"/>
                </a:cubicBezTo>
                <a:cubicBezTo>
                  <a:pt x="5123592" y="1447542"/>
                  <a:pt x="4813434" y="1457339"/>
                  <a:pt x="4894217" y="1663337"/>
                </a:cubicBezTo>
                <a:cubicBezTo>
                  <a:pt x="4937720" y="1774271"/>
                  <a:pt x="5013807" y="1871764"/>
                  <a:pt x="5094514" y="1959429"/>
                </a:cubicBezTo>
                <a:cubicBezTo>
                  <a:pt x="5183881" y="2056500"/>
                  <a:pt x="5298145" y="2127277"/>
                  <a:pt x="5399314" y="2211977"/>
                </a:cubicBezTo>
                <a:cubicBezTo>
                  <a:pt x="5422975" y="2231786"/>
                  <a:pt x="5468983" y="2272937"/>
                  <a:pt x="5468983" y="2272937"/>
                </a:cubicBezTo>
                <a:cubicBezTo>
                  <a:pt x="5223502" y="2301817"/>
                  <a:pt x="4347593" y="2409300"/>
                  <a:pt x="4145280" y="2412275"/>
                </a:cubicBezTo>
                <a:cubicBezTo>
                  <a:pt x="3993346" y="2414509"/>
                  <a:pt x="3843383" y="2377440"/>
                  <a:pt x="3692434" y="2360023"/>
                </a:cubicBezTo>
                <a:cubicBezTo>
                  <a:pt x="3654697" y="2400663"/>
                  <a:pt x="3627312" y="2454318"/>
                  <a:pt x="3579223" y="2481943"/>
                </a:cubicBezTo>
                <a:cubicBezTo>
                  <a:pt x="3213271" y="2692171"/>
                  <a:pt x="3130574" y="2569729"/>
                  <a:pt x="2656114" y="2490652"/>
                </a:cubicBezTo>
                <a:cubicBezTo>
                  <a:pt x="2464525" y="2400663"/>
                  <a:pt x="2237206" y="2363907"/>
                  <a:pt x="2081348" y="2220686"/>
                </a:cubicBezTo>
                <a:cubicBezTo>
                  <a:pt x="1956393" y="2105863"/>
                  <a:pt x="2019076" y="1629123"/>
                  <a:pt x="2098765" y="1532709"/>
                </a:cubicBezTo>
                <a:cubicBezTo>
                  <a:pt x="2265997" y="1330379"/>
                  <a:pt x="2495509" y="1185788"/>
                  <a:pt x="2717074" y="1045029"/>
                </a:cubicBezTo>
                <a:cubicBezTo>
                  <a:pt x="2963817" y="888275"/>
                  <a:pt x="3274689" y="803034"/>
                  <a:pt x="3457303" y="574766"/>
                </a:cubicBezTo>
                <a:cubicBezTo>
                  <a:pt x="3515360" y="502195"/>
                  <a:pt x="3579443" y="434058"/>
                  <a:pt x="3631474" y="357052"/>
                </a:cubicBezTo>
                <a:cubicBezTo>
                  <a:pt x="3652601" y="325783"/>
                  <a:pt x="3643940" y="273958"/>
                  <a:pt x="3675017" y="252549"/>
                </a:cubicBezTo>
                <a:cubicBezTo>
                  <a:pt x="3969514" y="49673"/>
                  <a:pt x="4173356" y="61224"/>
                  <a:pt x="4528457" y="0"/>
                </a:cubicBezTo>
                <a:cubicBezTo>
                  <a:pt x="4827596" y="18315"/>
                  <a:pt x="5079384" y="9751"/>
                  <a:pt x="5364480" y="121920"/>
                </a:cubicBezTo>
                <a:cubicBezTo>
                  <a:pt x="5416088" y="142225"/>
                  <a:pt x="5449555" y="193681"/>
                  <a:pt x="5486400" y="235132"/>
                </a:cubicBezTo>
                <a:cubicBezTo>
                  <a:pt x="5608154" y="372106"/>
                  <a:pt x="5557035" y="355540"/>
                  <a:pt x="5643154" y="531223"/>
                </a:cubicBezTo>
                <a:cubicBezTo>
                  <a:pt x="5770794" y="791608"/>
                  <a:pt x="5793440" y="850091"/>
                  <a:pt x="6043748" y="1018903"/>
                </a:cubicBezTo>
                <a:cubicBezTo>
                  <a:pt x="6078790" y="1042536"/>
                  <a:pt x="6125028" y="1042126"/>
                  <a:pt x="6165668" y="1053737"/>
                </a:cubicBezTo>
                <a:cubicBezTo>
                  <a:pt x="6603579" y="661924"/>
                  <a:pt x="5997322" y="1230524"/>
                  <a:pt x="6522720" y="609600"/>
                </a:cubicBezTo>
                <a:cubicBezTo>
                  <a:pt x="6732982" y="361109"/>
                  <a:pt x="6789489" y="351528"/>
                  <a:pt x="7036525" y="209006"/>
                </a:cubicBezTo>
                <a:cubicBezTo>
                  <a:pt x="7224417" y="321740"/>
                  <a:pt x="7180857" y="279951"/>
                  <a:pt x="7367451" y="600892"/>
                </a:cubicBezTo>
                <a:cubicBezTo>
                  <a:pt x="7566833" y="943829"/>
                  <a:pt x="7561758" y="1020820"/>
                  <a:pt x="7654834" y="1384663"/>
                </a:cubicBezTo>
                <a:cubicBezTo>
                  <a:pt x="7674478" y="1556552"/>
                  <a:pt x="7711384" y="1919078"/>
                  <a:pt x="7750628" y="2072640"/>
                </a:cubicBezTo>
                <a:cubicBezTo>
                  <a:pt x="7785633" y="2209616"/>
                  <a:pt x="7853453" y="2336653"/>
                  <a:pt x="7889965" y="2473235"/>
                </a:cubicBezTo>
                <a:cubicBezTo>
                  <a:pt x="7932014" y="2630530"/>
                  <a:pt x="7953828" y="2792549"/>
                  <a:pt x="7985760" y="2952206"/>
                </a:cubicBezTo>
                <a:cubicBezTo>
                  <a:pt x="7878354" y="3027680"/>
                  <a:pt x="7793269" y="3158542"/>
                  <a:pt x="7663543" y="3178629"/>
                </a:cubicBezTo>
                <a:cubicBezTo>
                  <a:pt x="6982898" y="3284019"/>
                  <a:pt x="6906729" y="3245837"/>
                  <a:pt x="6496594" y="3117669"/>
                </a:cubicBezTo>
                <a:cubicBezTo>
                  <a:pt x="6451462" y="3253059"/>
                  <a:pt x="6492316" y="3118560"/>
                  <a:pt x="6522720" y="3483429"/>
                </a:cubicBezTo>
                <a:lnTo>
                  <a:pt x="6531428" y="3587932"/>
                </a:lnTo>
                <a:cubicBezTo>
                  <a:pt x="6525622" y="3596640"/>
                  <a:pt x="6524453" y="3614763"/>
                  <a:pt x="6514011" y="3614057"/>
                </a:cubicBezTo>
                <a:cubicBezTo>
                  <a:pt x="6133849" y="3588370"/>
                  <a:pt x="5607919" y="3503458"/>
                  <a:pt x="5233851" y="3448595"/>
                </a:cubicBezTo>
                <a:cubicBezTo>
                  <a:pt x="4730074" y="3292882"/>
                  <a:pt x="4904348" y="3225816"/>
                  <a:pt x="4685211" y="3335383"/>
                </a:cubicBezTo>
                <a:cubicBezTo>
                  <a:pt x="4659085" y="3364412"/>
                  <a:pt x="4625655" y="3388249"/>
                  <a:pt x="4606834" y="3422469"/>
                </a:cubicBezTo>
                <a:cubicBezTo>
                  <a:pt x="4581710" y="3468150"/>
                  <a:pt x="4615483" y="3519071"/>
                  <a:pt x="4554583" y="3535680"/>
                </a:cubicBezTo>
                <a:cubicBezTo>
                  <a:pt x="4503477" y="3549618"/>
                  <a:pt x="4450080" y="3553097"/>
                  <a:pt x="4397828" y="3561806"/>
                </a:cubicBezTo>
                <a:cubicBezTo>
                  <a:pt x="4185920" y="3550195"/>
                  <a:pt x="3973413" y="3546670"/>
                  <a:pt x="3762103" y="3526972"/>
                </a:cubicBezTo>
                <a:cubicBezTo>
                  <a:pt x="3613494" y="3513119"/>
                  <a:pt x="3396502" y="3470940"/>
                  <a:pt x="3230880" y="3439886"/>
                </a:cubicBezTo>
                <a:cubicBezTo>
                  <a:pt x="3134716" y="3469475"/>
                  <a:pt x="3049354" y="3503899"/>
                  <a:pt x="2943497" y="3492137"/>
                </a:cubicBezTo>
                <a:cubicBezTo>
                  <a:pt x="2868595" y="3483815"/>
                  <a:pt x="2798354" y="3451497"/>
                  <a:pt x="2725783" y="3431177"/>
                </a:cubicBezTo>
                <a:cubicBezTo>
                  <a:pt x="2632891" y="3370217"/>
                  <a:pt x="2527399" y="3325097"/>
                  <a:pt x="2447108" y="3248297"/>
                </a:cubicBezTo>
                <a:cubicBezTo>
                  <a:pt x="2386968" y="3190772"/>
                  <a:pt x="2256936" y="3041641"/>
                  <a:pt x="2368731" y="2952206"/>
                </a:cubicBezTo>
                <a:cubicBezTo>
                  <a:pt x="2404572" y="2923534"/>
                  <a:pt x="2453752" y="2913819"/>
                  <a:pt x="2499360" y="2908663"/>
                </a:cubicBezTo>
                <a:cubicBezTo>
                  <a:pt x="2788730" y="2875952"/>
                  <a:pt x="3080365" y="2867115"/>
                  <a:pt x="3370217" y="2838995"/>
                </a:cubicBezTo>
                <a:cubicBezTo>
                  <a:pt x="3469509" y="2829362"/>
                  <a:pt x="3567476" y="2809017"/>
                  <a:pt x="3666308" y="2795452"/>
                </a:cubicBezTo>
                <a:cubicBezTo>
                  <a:pt x="3715535" y="2788695"/>
                  <a:pt x="3765065" y="2784327"/>
                  <a:pt x="3814354" y="2778035"/>
                </a:cubicBezTo>
                <a:cubicBezTo>
                  <a:pt x="3901503" y="2766909"/>
                  <a:pt x="3988167" y="2751702"/>
                  <a:pt x="4075611" y="2743200"/>
                </a:cubicBezTo>
                <a:cubicBezTo>
                  <a:pt x="4197268" y="2731372"/>
                  <a:pt x="4319451" y="2725783"/>
                  <a:pt x="4441371" y="2717075"/>
                </a:cubicBezTo>
                <a:cubicBezTo>
                  <a:pt x="4606834" y="2731589"/>
                  <a:pt x="4771662" y="2760617"/>
                  <a:pt x="4937760" y="2760617"/>
                </a:cubicBezTo>
                <a:cubicBezTo>
                  <a:pt x="5057659" y="2760617"/>
                  <a:pt x="5176117" y="2734031"/>
                  <a:pt x="5294811" y="2717075"/>
                </a:cubicBezTo>
                <a:cubicBezTo>
                  <a:pt x="5531521" y="2683260"/>
                  <a:pt x="5759243" y="2629772"/>
                  <a:pt x="5991497" y="2569029"/>
                </a:cubicBezTo>
                <a:cubicBezTo>
                  <a:pt x="6221803" y="2508795"/>
                  <a:pt x="6679474" y="2377440"/>
                  <a:pt x="6679474" y="2377440"/>
                </a:cubicBezTo>
                <a:cubicBezTo>
                  <a:pt x="6616183" y="2282505"/>
                  <a:pt x="6675003" y="2356673"/>
                  <a:pt x="6418217" y="2316480"/>
                </a:cubicBezTo>
                <a:cubicBezTo>
                  <a:pt x="6165496" y="2276924"/>
                  <a:pt x="5911336" y="2245050"/>
                  <a:pt x="5660571" y="2194560"/>
                </a:cubicBezTo>
                <a:cubicBezTo>
                  <a:pt x="5286043" y="2119152"/>
                  <a:pt x="5047546" y="2031356"/>
                  <a:pt x="4693920" y="1915886"/>
                </a:cubicBezTo>
                <a:cubicBezTo>
                  <a:pt x="4601028" y="1939109"/>
                  <a:pt x="4505365" y="1953204"/>
                  <a:pt x="4415245" y="1985555"/>
                </a:cubicBezTo>
                <a:cubicBezTo>
                  <a:pt x="4278201" y="2034750"/>
                  <a:pt x="4155822" y="2124062"/>
                  <a:pt x="4014651" y="2159726"/>
                </a:cubicBezTo>
                <a:cubicBezTo>
                  <a:pt x="3876285" y="2194682"/>
                  <a:pt x="3730171" y="2182949"/>
                  <a:pt x="3587931" y="2194560"/>
                </a:cubicBezTo>
                <a:cubicBezTo>
                  <a:pt x="3547291" y="2182949"/>
                  <a:pt x="3503225" y="2179764"/>
                  <a:pt x="3466011" y="2159726"/>
                </a:cubicBezTo>
                <a:cubicBezTo>
                  <a:pt x="3115120" y="1970785"/>
                  <a:pt x="3569185" y="2148159"/>
                  <a:pt x="3265714" y="2037806"/>
                </a:cubicBezTo>
                <a:cubicBezTo>
                  <a:pt x="3245394" y="2008777"/>
                  <a:pt x="3216305" y="1984218"/>
                  <a:pt x="3204754" y="1950720"/>
                </a:cubicBezTo>
                <a:cubicBezTo>
                  <a:pt x="3164252" y="1833265"/>
                  <a:pt x="3145879" y="1680426"/>
                  <a:pt x="3317965" y="1628503"/>
                </a:cubicBezTo>
                <a:cubicBezTo>
                  <a:pt x="3599864" y="1543447"/>
                  <a:pt x="4188823" y="1480457"/>
                  <a:pt x="4188823" y="1480457"/>
                </a:cubicBezTo>
                <a:cubicBezTo>
                  <a:pt x="5133463" y="1147584"/>
                  <a:pt x="4781380" y="1187497"/>
                  <a:pt x="5199017" y="1149532"/>
                </a:cubicBezTo>
                <a:cubicBezTo>
                  <a:pt x="5283200" y="1201783"/>
                  <a:pt x="5356297" y="1279067"/>
                  <a:pt x="5451565" y="1306286"/>
                </a:cubicBezTo>
                <a:cubicBezTo>
                  <a:pt x="5839644" y="1417165"/>
                  <a:pt x="5217430" y="1241799"/>
                  <a:pt x="5765074" y="1384663"/>
                </a:cubicBezTo>
                <a:cubicBezTo>
                  <a:pt x="5835295" y="1402982"/>
                  <a:pt x="5907812" y="1416039"/>
                  <a:pt x="5974080" y="1445623"/>
                </a:cubicBezTo>
                <a:cubicBezTo>
                  <a:pt x="6474437" y="1668996"/>
                  <a:pt x="6064578" y="1558100"/>
                  <a:pt x="6400800" y="1637212"/>
                </a:cubicBezTo>
                <a:cubicBezTo>
                  <a:pt x="6429828" y="1654629"/>
                  <a:pt x="6464715" y="1664782"/>
                  <a:pt x="6487885" y="1689463"/>
                </a:cubicBezTo>
                <a:cubicBezTo>
                  <a:pt x="6599307" y="1808151"/>
                  <a:pt x="6664456" y="1975900"/>
                  <a:pt x="6801394" y="2063932"/>
                </a:cubicBezTo>
                <a:lnTo>
                  <a:pt x="6923314" y="2142309"/>
                </a:lnTo>
                <a:cubicBezTo>
                  <a:pt x="7165734" y="2123660"/>
                  <a:pt x="6891984" y="2153926"/>
                  <a:pt x="7245531" y="2063932"/>
                </a:cubicBezTo>
                <a:cubicBezTo>
                  <a:pt x="7426292" y="2017920"/>
                  <a:pt x="7461802" y="2017049"/>
                  <a:pt x="7602583" y="2002972"/>
                </a:cubicBezTo>
                <a:cubicBezTo>
                  <a:pt x="7637417" y="2005875"/>
                  <a:pt x="7673025" y="2003820"/>
                  <a:pt x="7707085" y="2011680"/>
                </a:cubicBezTo>
                <a:cubicBezTo>
                  <a:pt x="7749134" y="2021384"/>
                  <a:pt x="7786115" y="2050457"/>
                  <a:pt x="7829005" y="2055223"/>
                </a:cubicBezTo>
                <a:cubicBezTo>
                  <a:pt x="7866953" y="2059439"/>
                  <a:pt x="7904480" y="2043612"/>
                  <a:pt x="7942217" y="2037806"/>
                </a:cubicBezTo>
                <a:cubicBezTo>
                  <a:pt x="8064526" y="1915497"/>
                  <a:pt x="8125546" y="1881994"/>
                  <a:pt x="8186057" y="1715589"/>
                </a:cubicBezTo>
                <a:cubicBezTo>
                  <a:pt x="8198991" y="1680019"/>
                  <a:pt x="8191862" y="1640114"/>
                  <a:pt x="8194765" y="1602377"/>
                </a:cubicBezTo>
                <a:cubicBezTo>
                  <a:pt x="8171542" y="1483360"/>
                  <a:pt x="8148878" y="1364233"/>
                  <a:pt x="8125097" y="1245326"/>
                </a:cubicBezTo>
                <a:cubicBezTo>
                  <a:pt x="8114043" y="1190057"/>
                  <a:pt x="8111941" y="1131891"/>
                  <a:pt x="8090263" y="1079863"/>
                </a:cubicBezTo>
                <a:cubicBezTo>
                  <a:pt x="8027812" y="929981"/>
                  <a:pt x="8014685" y="912386"/>
                  <a:pt x="7977051" y="705395"/>
                </a:cubicBezTo>
                <a:cubicBezTo>
                  <a:pt x="7959634" y="609601"/>
                  <a:pt x="7947994" y="512574"/>
                  <a:pt x="7924800" y="418012"/>
                </a:cubicBezTo>
                <a:cubicBezTo>
                  <a:pt x="7908652" y="352177"/>
                  <a:pt x="7858658" y="230886"/>
                  <a:pt x="7829005" y="156755"/>
                </a:cubicBezTo>
                <a:cubicBezTo>
                  <a:pt x="7724502" y="194492"/>
                  <a:pt x="7624400" y="247941"/>
                  <a:pt x="7515497" y="269966"/>
                </a:cubicBezTo>
                <a:cubicBezTo>
                  <a:pt x="7364029" y="300600"/>
                  <a:pt x="7207042" y="292495"/>
                  <a:pt x="7053943" y="313509"/>
                </a:cubicBezTo>
                <a:cubicBezTo>
                  <a:pt x="6732073" y="357687"/>
                  <a:pt x="6723485" y="364383"/>
                  <a:pt x="6505303" y="426720"/>
                </a:cubicBezTo>
                <a:cubicBezTo>
                  <a:pt x="6490789" y="452846"/>
                  <a:pt x="6471211" y="476744"/>
                  <a:pt x="6461760" y="505097"/>
                </a:cubicBezTo>
                <a:cubicBezTo>
                  <a:pt x="6407052" y="669221"/>
                  <a:pt x="6446784" y="781129"/>
                  <a:pt x="6479177" y="966652"/>
                </a:cubicBezTo>
                <a:cubicBezTo>
                  <a:pt x="6492014" y="1040172"/>
                  <a:pt x="6514011" y="1111795"/>
                  <a:pt x="6531428" y="1184366"/>
                </a:cubicBezTo>
                <a:cubicBezTo>
                  <a:pt x="6532505" y="1195135"/>
                  <a:pt x="6549390" y="1361338"/>
                  <a:pt x="6548845" y="1367246"/>
                </a:cubicBezTo>
                <a:cubicBezTo>
                  <a:pt x="6534316" y="1524643"/>
                  <a:pt x="6516581" y="1682070"/>
                  <a:pt x="6487885" y="1837509"/>
                </a:cubicBezTo>
                <a:cubicBezTo>
                  <a:pt x="6481517" y="1872001"/>
                  <a:pt x="6464308" y="1904465"/>
                  <a:pt x="6444343" y="1933303"/>
                </a:cubicBezTo>
                <a:cubicBezTo>
                  <a:pt x="6429597" y="1954603"/>
                  <a:pt x="6361568" y="1957259"/>
                  <a:pt x="6348548" y="1959429"/>
                </a:cubicBezTo>
                <a:cubicBezTo>
                  <a:pt x="6128900" y="1996037"/>
                  <a:pt x="6404566" y="1959476"/>
                  <a:pt x="6078583" y="1985555"/>
                </a:cubicBezTo>
                <a:lnTo>
                  <a:pt x="5381897" y="2046515"/>
                </a:lnTo>
                <a:cubicBezTo>
                  <a:pt x="5280297" y="2066835"/>
                  <a:pt x="5176088" y="2076878"/>
                  <a:pt x="5077097" y="2107475"/>
                </a:cubicBezTo>
                <a:cubicBezTo>
                  <a:pt x="5015082" y="2126643"/>
                  <a:pt x="4964591" y="2174298"/>
                  <a:pt x="4902925" y="2194560"/>
                </a:cubicBezTo>
                <a:cubicBezTo>
                  <a:pt x="4760450" y="2241373"/>
                  <a:pt x="4467497" y="2307772"/>
                  <a:pt x="4467497" y="2307772"/>
                </a:cubicBezTo>
                <a:cubicBezTo>
                  <a:pt x="4452983" y="2333898"/>
                  <a:pt x="4413622" y="2358105"/>
                  <a:pt x="4423954" y="2386149"/>
                </a:cubicBezTo>
                <a:cubicBezTo>
                  <a:pt x="4458746" y="2480585"/>
                  <a:pt x="4589417" y="2638697"/>
                  <a:pt x="4589417" y="2638697"/>
                </a:cubicBezTo>
                <a:cubicBezTo>
                  <a:pt x="4598126" y="2682240"/>
                  <a:pt x="4626313" y="2726246"/>
                  <a:pt x="4615543" y="2769326"/>
                </a:cubicBezTo>
                <a:cubicBezTo>
                  <a:pt x="4592871" y="2860014"/>
                  <a:pt x="4549346" y="2946819"/>
                  <a:pt x="4493623" y="3021875"/>
                </a:cubicBezTo>
                <a:cubicBezTo>
                  <a:pt x="4283183" y="3305325"/>
                  <a:pt x="4100842" y="3455545"/>
                  <a:pt x="3744685" y="3535680"/>
                </a:cubicBezTo>
                <a:cubicBezTo>
                  <a:pt x="3548761" y="3579763"/>
                  <a:pt x="3344091" y="3564709"/>
                  <a:pt x="3143794" y="3579223"/>
                </a:cubicBezTo>
                <a:cubicBezTo>
                  <a:pt x="2975034" y="3568675"/>
                  <a:pt x="2181828" y="3549678"/>
                  <a:pt x="1959428" y="3439886"/>
                </a:cubicBezTo>
                <a:cubicBezTo>
                  <a:pt x="1841508" y="3381672"/>
                  <a:pt x="1678865" y="3050563"/>
                  <a:pt x="1619794" y="2943497"/>
                </a:cubicBezTo>
                <a:cubicBezTo>
                  <a:pt x="1576057" y="2746680"/>
                  <a:pt x="1501738" y="2548247"/>
                  <a:pt x="1567543" y="2342606"/>
                </a:cubicBezTo>
                <a:cubicBezTo>
                  <a:pt x="1618047" y="2184782"/>
                  <a:pt x="2049483" y="1961346"/>
                  <a:pt x="2081348" y="1942012"/>
                </a:cubicBezTo>
                <a:cubicBezTo>
                  <a:pt x="2206941" y="1865809"/>
                  <a:pt x="2338412" y="1799637"/>
                  <a:pt x="2464525" y="1724297"/>
                </a:cubicBezTo>
                <a:cubicBezTo>
                  <a:pt x="2562001" y="1666064"/>
                  <a:pt x="2649057" y="1589525"/>
                  <a:pt x="2751908" y="1541417"/>
                </a:cubicBezTo>
                <a:cubicBezTo>
                  <a:pt x="2949081" y="1449191"/>
                  <a:pt x="3292271" y="1446384"/>
                  <a:pt x="3474720" y="1419497"/>
                </a:cubicBezTo>
                <a:cubicBezTo>
                  <a:pt x="3594686" y="1401818"/>
                  <a:pt x="3712754" y="1373052"/>
                  <a:pt x="3831771" y="1349829"/>
                </a:cubicBezTo>
                <a:cubicBezTo>
                  <a:pt x="3971108" y="1361440"/>
                  <a:pt x="4120637" y="1331081"/>
                  <a:pt x="4249783" y="1384663"/>
                </a:cubicBezTo>
                <a:cubicBezTo>
                  <a:pt x="4612721" y="1535244"/>
                  <a:pt x="4763424" y="1851395"/>
                  <a:pt x="4972594" y="2151017"/>
                </a:cubicBezTo>
                <a:cubicBezTo>
                  <a:pt x="5027748" y="2351314"/>
                  <a:pt x="5167877" y="2546308"/>
                  <a:pt x="5138057" y="2751909"/>
                </a:cubicBezTo>
                <a:cubicBezTo>
                  <a:pt x="5107758" y="2960815"/>
                  <a:pt x="4988815" y="3184365"/>
                  <a:pt x="4807131" y="3291840"/>
                </a:cubicBezTo>
                <a:cubicBezTo>
                  <a:pt x="3502521" y="4063581"/>
                  <a:pt x="2664307" y="3869478"/>
                  <a:pt x="1158240" y="3918857"/>
                </a:cubicBezTo>
                <a:cubicBezTo>
                  <a:pt x="310544" y="3657419"/>
                  <a:pt x="290464" y="3904731"/>
                  <a:pt x="78377" y="3309257"/>
                </a:cubicBezTo>
                <a:cubicBezTo>
                  <a:pt x="42235" y="3207782"/>
                  <a:pt x="26126" y="3100252"/>
                  <a:pt x="0" y="2995749"/>
                </a:cubicBezTo>
                <a:cubicBezTo>
                  <a:pt x="98697" y="2879635"/>
                  <a:pt x="171439" y="2735073"/>
                  <a:pt x="296091" y="2647406"/>
                </a:cubicBezTo>
                <a:cubicBezTo>
                  <a:pt x="442941" y="2544126"/>
                  <a:pt x="622699" y="2496762"/>
                  <a:pt x="792480" y="2438400"/>
                </a:cubicBezTo>
                <a:cubicBezTo>
                  <a:pt x="1681193" y="2132905"/>
                  <a:pt x="1602321" y="2181990"/>
                  <a:pt x="2473234" y="2046515"/>
                </a:cubicBezTo>
                <a:cubicBezTo>
                  <a:pt x="2664823" y="2049418"/>
                  <a:pt x="2861139" y="2012826"/>
                  <a:pt x="3048000" y="2055223"/>
                </a:cubicBezTo>
                <a:cubicBezTo>
                  <a:pt x="3383300" y="2131299"/>
                  <a:pt x="3732524" y="2438621"/>
                  <a:pt x="3944983" y="2682240"/>
                </a:cubicBezTo>
                <a:cubicBezTo>
                  <a:pt x="4034980" y="2785437"/>
                  <a:pt x="4090126" y="2914469"/>
                  <a:pt x="4162697" y="3030583"/>
                </a:cubicBezTo>
                <a:cubicBezTo>
                  <a:pt x="4177211" y="3169920"/>
                  <a:pt x="4204267" y="3308518"/>
                  <a:pt x="4206240" y="3448595"/>
                </a:cubicBezTo>
                <a:cubicBezTo>
                  <a:pt x="4209087" y="3650751"/>
                  <a:pt x="4230132" y="3634211"/>
                  <a:pt x="4136571" y="3657600"/>
                </a:cubicBezTo>
                <a:cubicBezTo>
                  <a:pt x="4119154" y="3654697"/>
                  <a:pt x="4080037" y="3666022"/>
                  <a:pt x="4084320" y="3648892"/>
                </a:cubicBezTo>
                <a:cubicBezTo>
                  <a:pt x="4089682" y="3627445"/>
                  <a:pt x="4123172" y="3622766"/>
                  <a:pt x="4145280" y="3622766"/>
                </a:cubicBezTo>
                <a:cubicBezTo>
                  <a:pt x="4219053" y="3622766"/>
                  <a:pt x="4303174" y="3658807"/>
                  <a:pt x="4371703" y="3683726"/>
                </a:cubicBezTo>
                <a:cubicBezTo>
                  <a:pt x="4488771" y="3664214"/>
                  <a:pt x="4371848" y="3696062"/>
                  <a:pt x="4450080" y="3640183"/>
                </a:cubicBezTo>
                <a:cubicBezTo>
                  <a:pt x="4459819" y="3633226"/>
                  <a:pt x="4473150" y="3633681"/>
                  <a:pt x="4484914" y="3631475"/>
                </a:cubicBezTo>
                <a:cubicBezTo>
                  <a:pt x="4519624" y="3624967"/>
                  <a:pt x="4554583" y="3619863"/>
                  <a:pt x="4589417" y="3614057"/>
                </a:cubicBezTo>
                <a:cubicBezTo>
                  <a:pt x="4644571" y="3579223"/>
                  <a:pt x="4705023" y="3551622"/>
                  <a:pt x="4754880" y="3509555"/>
                </a:cubicBezTo>
                <a:cubicBezTo>
                  <a:pt x="4833900" y="3442882"/>
                  <a:pt x="4953951" y="3261265"/>
                  <a:pt x="4990011" y="3178629"/>
                </a:cubicBezTo>
                <a:cubicBezTo>
                  <a:pt x="5176120" y="2752130"/>
                  <a:pt x="4975535" y="3039234"/>
                  <a:pt x="5172891" y="2743200"/>
                </a:cubicBezTo>
                <a:cubicBezTo>
                  <a:pt x="5185467" y="2724336"/>
                  <a:pt x="5195384" y="2699369"/>
                  <a:pt x="5216434" y="2690949"/>
                </a:cubicBezTo>
                <a:cubicBezTo>
                  <a:pt x="5257220" y="2674635"/>
                  <a:pt x="5303385" y="2678212"/>
                  <a:pt x="5347063" y="2673532"/>
                </a:cubicBezTo>
                <a:cubicBezTo>
                  <a:pt x="5465965" y="2660792"/>
                  <a:pt x="5584822" y="2647020"/>
                  <a:pt x="5704114" y="2638697"/>
                </a:cubicBezTo>
                <a:cubicBezTo>
                  <a:pt x="5834555" y="2629596"/>
                  <a:pt x="5965423" y="2628152"/>
                  <a:pt x="6096000" y="2621280"/>
                </a:cubicBezTo>
                <a:cubicBezTo>
                  <a:pt x="6186051" y="2616541"/>
                  <a:pt x="6275977" y="2609669"/>
                  <a:pt x="6365965" y="2603863"/>
                </a:cubicBezTo>
                <a:cubicBezTo>
                  <a:pt x="6616372" y="2384758"/>
                  <a:pt x="6144406" y="2813251"/>
                  <a:pt x="6522720" y="2368732"/>
                </a:cubicBezTo>
                <a:cubicBezTo>
                  <a:pt x="7141921" y="1641170"/>
                  <a:pt x="6519734" y="2521157"/>
                  <a:pt x="6914605" y="1942012"/>
                </a:cubicBezTo>
                <a:cubicBezTo>
                  <a:pt x="6894285" y="1898469"/>
                  <a:pt x="6881298" y="1850679"/>
                  <a:pt x="6853645" y="1811383"/>
                </a:cubicBezTo>
                <a:cubicBezTo>
                  <a:pt x="6799468" y="1734394"/>
                  <a:pt x="6663074" y="1635671"/>
                  <a:pt x="6583680" y="1602377"/>
                </a:cubicBezTo>
                <a:cubicBezTo>
                  <a:pt x="6138574" y="1415720"/>
                  <a:pt x="6011408" y="1464542"/>
                  <a:pt x="5451565" y="1419497"/>
                </a:cubicBezTo>
                <a:cubicBezTo>
                  <a:pt x="5251268" y="1463040"/>
                  <a:pt x="5033587" y="1457618"/>
                  <a:pt x="4850674" y="1550126"/>
                </a:cubicBezTo>
                <a:cubicBezTo>
                  <a:pt x="4762258" y="1594842"/>
                  <a:pt x="4675331" y="1705354"/>
                  <a:pt x="4693920" y="1802675"/>
                </a:cubicBezTo>
                <a:cubicBezTo>
                  <a:pt x="4789121" y="2301078"/>
                  <a:pt x="5420329" y="2691928"/>
                  <a:pt x="5799908" y="2856412"/>
                </a:cubicBezTo>
                <a:cubicBezTo>
                  <a:pt x="6479470" y="3150889"/>
                  <a:pt x="6885046" y="3120376"/>
                  <a:pt x="7567748" y="3152503"/>
                </a:cubicBezTo>
                <a:cubicBezTo>
                  <a:pt x="7835001" y="2900971"/>
                  <a:pt x="7826403" y="2990122"/>
                  <a:pt x="7567748" y="2412275"/>
                </a:cubicBezTo>
                <a:cubicBezTo>
                  <a:pt x="7422296" y="2087329"/>
                  <a:pt x="7153886" y="1996550"/>
                  <a:pt x="6827520" y="1924595"/>
                </a:cubicBezTo>
                <a:cubicBezTo>
                  <a:pt x="6485848" y="1849266"/>
                  <a:pt x="6145202" y="1853724"/>
                  <a:pt x="5799908" y="1846217"/>
                </a:cubicBezTo>
                <a:cubicBezTo>
                  <a:pt x="5657668" y="1883954"/>
                  <a:pt x="5507451" y="1899183"/>
                  <a:pt x="5373188" y="1959429"/>
                </a:cubicBezTo>
                <a:cubicBezTo>
                  <a:pt x="5276783" y="2002688"/>
                  <a:pt x="5201723" y="2083262"/>
                  <a:pt x="5120640" y="2151017"/>
                </a:cubicBezTo>
                <a:cubicBezTo>
                  <a:pt x="4696083" y="2505784"/>
                  <a:pt x="4794648" y="2420125"/>
                  <a:pt x="4476205" y="2812869"/>
                </a:cubicBezTo>
                <a:cubicBezTo>
                  <a:pt x="4452982" y="2873829"/>
                  <a:pt x="4427876" y="2934104"/>
                  <a:pt x="4406537" y="2995749"/>
                </a:cubicBezTo>
                <a:cubicBezTo>
                  <a:pt x="4401695" y="3009736"/>
                  <a:pt x="4392631" y="3025433"/>
                  <a:pt x="4397828" y="3039292"/>
                </a:cubicBezTo>
                <a:cubicBezTo>
                  <a:pt x="4402924" y="3052882"/>
                  <a:pt x="4420401" y="3057651"/>
                  <a:pt x="4432663" y="3065417"/>
                </a:cubicBezTo>
                <a:cubicBezTo>
                  <a:pt x="4507531" y="3112834"/>
                  <a:pt x="4579820" y="3165123"/>
                  <a:pt x="4659085" y="3204755"/>
                </a:cubicBezTo>
                <a:cubicBezTo>
                  <a:pt x="4693919" y="3222172"/>
                  <a:pt x="4731291" y="3235241"/>
                  <a:pt x="4763588" y="3257006"/>
                </a:cubicBezTo>
                <a:cubicBezTo>
                  <a:pt x="4865178" y="3325469"/>
                  <a:pt x="4973055" y="3388095"/>
                  <a:pt x="5059680" y="3474720"/>
                </a:cubicBezTo>
                <a:cubicBezTo>
                  <a:pt x="5103095" y="3518135"/>
                  <a:pt x="5150159" y="3560159"/>
                  <a:pt x="5181600" y="3614057"/>
                </a:cubicBezTo>
                <a:cubicBezTo>
                  <a:pt x="5184075" y="3618300"/>
                  <a:pt x="5340240" y="3932209"/>
                  <a:pt x="5381897" y="3979817"/>
                </a:cubicBezTo>
                <a:cubicBezTo>
                  <a:pt x="5402217" y="4003040"/>
                  <a:pt x="5424112" y="4024974"/>
                  <a:pt x="5442857" y="4049486"/>
                </a:cubicBezTo>
                <a:cubicBezTo>
                  <a:pt x="5511518" y="4139274"/>
                  <a:pt x="5462011" y="4116830"/>
                  <a:pt x="5521234" y="4136572"/>
                </a:cubicBezTo>
                <a:cubicBezTo>
                  <a:pt x="5574293" y="4083513"/>
                  <a:pt x="5520860" y="4122454"/>
                  <a:pt x="5634445" y="4127863"/>
                </a:cubicBezTo>
                <a:cubicBezTo>
                  <a:pt x="5666472" y="4129388"/>
                  <a:pt x="5698308" y="4122058"/>
                  <a:pt x="5730240" y="4119155"/>
                </a:cubicBezTo>
                <a:cubicBezTo>
                  <a:pt x="5765074" y="4087223"/>
                  <a:pt x="5803525" y="4058835"/>
                  <a:pt x="5834743" y="4023360"/>
                </a:cubicBezTo>
                <a:cubicBezTo>
                  <a:pt x="5867736" y="3985867"/>
                  <a:pt x="5886513" y="3936755"/>
                  <a:pt x="5921828" y="3901440"/>
                </a:cubicBezTo>
                <a:cubicBezTo>
                  <a:pt x="5959792" y="3863476"/>
                  <a:pt x="6047608" y="3833711"/>
                  <a:pt x="6096000" y="3814355"/>
                </a:cubicBezTo>
                <a:cubicBezTo>
                  <a:pt x="6129248" y="3826445"/>
                  <a:pt x="6201742" y="3845920"/>
                  <a:pt x="6235337" y="3875315"/>
                </a:cubicBezTo>
                <a:cubicBezTo>
                  <a:pt x="6246260" y="3884873"/>
                  <a:pt x="6252171" y="3898999"/>
                  <a:pt x="6261463" y="3910149"/>
                </a:cubicBezTo>
                <a:cubicBezTo>
                  <a:pt x="6266719" y="3916456"/>
                  <a:pt x="6273074" y="3921760"/>
                  <a:pt x="6278880" y="3927566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F7A6B8-0283-311F-676E-BB499C85F0E0}"/>
              </a:ext>
            </a:extLst>
          </p:cNvPr>
          <p:cNvCxnSpPr/>
          <p:nvPr/>
        </p:nvCxnSpPr>
        <p:spPr bwMode="auto">
          <a:xfrm flipH="1">
            <a:off x="6209211" y="3874234"/>
            <a:ext cx="862149" cy="82712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195854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7B12-73B7-AD60-2FEA-950303E2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92879"/>
            <a:ext cx="8305800" cy="992187"/>
          </a:xfrm>
        </p:spPr>
        <p:txBody>
          <a:bodyPr/>
          <a:lstStyle/>
          <a:p>
            <a:r>
              <a:rPr lang="en-US" dirty="0"/>
              <a:t>Common Missing Data Nomenclature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84A203-AB98-46B2-3D4E-208DABB0D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204186"/>
              </p:ext>
            </p:extLst>
          </p:nvPr>
        </p:nvGraphicFramePr>
        <p:xfrm>
          <a:off x="544513" y="1600200"/>
          <a:ext cx="8294685" cy="3754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64895">
                  <a:extLst>
                    <a:ext uri="{9D8B030D-6E8A-4147-A177-3AD203B41FA5}">
                      <a16:colId xmlns:a16="http://schemas.microsoft.com/office/drawing/2014/main" val="561542248"/>
                    </a:ext>
                  </a:extLst>
                </a:gridCol>
                <a:gridCol w="2764895">
                  <a:extLst>
                    <a:ext uri="{9D8B030D-6E8A-4147-A177-3AD203B41FA5}">
                      <a16:colId xmlns:a16="http://schemas.microsoft.com/office/drawing/2014/main" val="3488278505"/>
                    </a:ext>
                  </a:extLst>
                </a:gridCol>
                <a:gridCol w="2764895">
                  <a:extLst>
                    <a:ext uri="{9D8B030D-6E8A-4147-A177-3AD203B41FA5}">
                      <a16:colId xmlns:a16="http://schemas.microsoft.com/office/drawing/2014/main" val="2620988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Completely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Not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49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unrelated to both the observed and unobserved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data are literally, </a:t>
                      </a:r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MCAR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related to the observed data but not to the unobserved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MAR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 missingness depends only on the observed data and can be predicted by other variables in the dataset.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related to the unobserved data, even after conditioning on the 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This means that the probability of missingness depends on the values of the missing data itself, even after accounting for the 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MNAR 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is the most problematic missing data mechanism as it implies that the missing data cannot be explained by the observed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12167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E9C4B-17B2-46BB-7388-243E9210C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960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id="{66C776EA-D1B8-4EB7-B2C8-365333DF5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1559" y="-124402"/>
            <a:ext cx="7886700" cy="805439"/>
          </a:xfrm>
        </p:spPr>
        <p:txBody>
          <a:bodyPr/>
          <a:lstStyle/>
          <a:p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Data Cleaning Steps</a:t>
            </a:r>
            <a:endParaRPr lang="en-US" altLang="en-US" dirty="0"/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49E43BE9-A4CE-4850-A558-8ACDE31EDA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1559" y="504826"/>
            <a:ext cx="7886700" cy="4351338"/>
          </a:xfrm>
        </p:spPr>
        <p:txBody>
          <a:bodyPr>
            <a:noAutofit/>
          </a:bodyPr>
          <a:lstStyle/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Open data in your software of choice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variables for common sense based on SME knowledge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how the software coded the variables (nominal, continuous)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Perform data integrity/validation checks (misspelled levels, bogus values, combine levels which represent the same thing, etc.)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dates (extract relevant information, e.g. day of week, hour of day)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categorical variables - keep as is, combine rare levels, combine similar levels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Handle zero-variance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predictors, i.e., columns that contain the same number throughout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near zero-variance predictors, i.e., columns that contain very little variety in values or who mostly contain a single value (very low information density)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Eliminate redundant columns and columns that are weighted sums of others.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Search for outliers and initial search for missing values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Sanity check using Decision Tree (1 to 2 splits)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5196F-873C-D502-638E-4BFDEDFA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1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06FFAA-2580-C0BD-E88A-272450AE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-262247"/>
            <a:ext cx="8305800" cy="992187"/>
          </a:xfrm>
        </p:spPr>
        <p:txBody>
          <a:bodyPr/>
          <a:lstStyle/>
          <a:p>
            <a:r>
              <a:rPr lang="en-US" dirty="0"/>
              <a:t>Missing Data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E6B4EC-EAC4-5C38-B00F-359D273BB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730" y="1129153"/>
            <a:ext cx="7287163" cy="47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join this program already in progress&gt; DF = </a:t>
            </a:r>
            <a:r>
              <a:rPr lang="en-US" b="1" dirty="0" err="1"/>
              <a:t>MDdf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“Mark”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Clean up any obvious mistakes (missing = 0)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easy decisions on Rows/Columns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missingness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simple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complex techniques (MICE)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Sensitivity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Report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Export “Draft Modeling File”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8FA2A-C323-F9E8-620F-7CB9449C0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C8AD3A-2A05-19F8-CC32-D483554A7558}"/>
              </a:ext>
            </a:extLst>
          </p:cNvPr>
          <p:cNvSpPr/>
          <p:nvPr/>
        </p:nvSpPr>
        <p:spPr bwMode="auto">
          <a:xfrm>
            <a:off x="665015" y="1996419"/>
            <a:ext cx="6021532" cy="150923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084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4469-9739-738B-C833-A4D01F8C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CEE8-16F9-4008-E077-F24463EF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192879"/>
            <a:ext cx="8876146" cy="992187"/>
          </a:xfrm>
        </p:spPr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Identify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6EB2-A46C-AE24-17C5-9D802966E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3051928"/>
          </a:xfrm>
        </p:spPr>
        <p:txBody>
          <a:bodyPr/>
          <a:lstStyle/>
          <a:p>
            <a:pPr lvl="1"/>
            <a:r>
              <a:rPr lang="en-US" dirty="0"/>
              <a:t>Pretty much already done by now</a:t>
            </a:r>
          </a:p>
          <a:p>
            <a:pPr lvl="2"/>
            <a:r>
              <a:rPr lang="en-US" dirty="0"/>
              <a:t>Nice table to summarize</a:t>
            </a:r>
          </a:p>
          <a:p>
            <a:pPr lvl="2"/>
            <a:r>
              <a:rPr lang="en-US" dirty="0"/>
              <a:t>Will look slightly different than first look do to elimination of rows/columns</a:t>
            </a:r>
          </a:p>
          <a:p>
            <a:pPr lvl="2"/>
            <a:endParaRPr lang="en-US" dirty="0"/>
          </a:p>
          <a:p>
            <a:pPr marL="342900" lvl="1" indent="0">
              <a:buNone/>
            </a:pPr>
            <a:r>
              <a:rPr lang="en-US" b="1" dirty="0"/>
              <a:t>NOTE: </a:t>
            </a:r>
            <a:r>
              <a:rPr lang="en-US" dirty="0"/>
              <a:t>is.na(), </a:t>
            </a:r>
            <a:r>
              <a:rPr lang="en-US" dirty="0" err="1"/>
              <a:t>flextable</a:t>
            </a:r>
            <a:r>
              <a:rPr lang="en-US" dirty="0"/>
              <a:t>, </a:t>
            </a:r>
            <a:r>
              <a:rPr lang="en-US" dirty="0" err="1"/>
              <a:t>md.pattern</a:t>
            </a:r>
            <a:r>
              <a:rPr lang="en-US" dirty="0"/>
              <a:t>(), </a:t>
            </a:r>
            <a:r>
              <a:rPr lang="en-US" dirty="0" err="1"/>
              <a:t>md.pareto</a:t>
            </a:r>
            <a:r>
              <a:rPr lang="en-US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46F77-E80B-3E91-D65E-4F21C2859F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457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BCA6-1230-F794-0FBC-9E0E3DF7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875F-BB0C-162E-AB54-F3DBB987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“Mark” missing data (with 0,1)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AFCAD-960D-DB9D-5F40-DCBA507FF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4572000"/>
          </a:xfrm>
        </p:spPr>
        <p:txBody>
          <a:bodyPr/>
          <a:lstStyle/>
          <a:p>
            <a:r>
              <a:rPr lang="en-US" dirty="0"/>
              <a:t>Variation among the experts on importance (book doesn’t seem to make important). I think it is.</a:t>
            </a:r>
          </a:p>
          <a:p>
            <a:pPr lvl="1"/>
            <a:r>
              <a:rPr lang="en-US" dirty="0"/>
              <a:t>Why is this important?</a:t>
            </a:r>
          </a:p>
          <a:p>
            <a:endParaRPr lang="en-US" dirty="0"/>
          </a:p>
          <a:p>
            <a:r>
              <a:rPr lang="en-US" dirty="0"/>
              <a:t>Line or two of code, various functions</a:t>
            </a:r>
          </a:p>
          <a:p>
            <a:r>
              <a:rPr lang="en-US" dirty="0"/>
              <a:t>How are you going to store the identifiers?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1E53F-D6AA-3767-E1E6-0F37D4FC24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20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D330-2458-6529-F6B6-98D1D5B1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6259-D19D-1848-2B0A-7CA18446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3: </a:t>
            </a:r>
            <a:r>
              <a:rPr lang="en-US" dirty="0"/>
              <a:t>Clean up any obvious mistakes (missing =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923A-2E17-3BA4-82F7-3CC3EB2E1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4572000"/>
          </a:xfrm>
        </p:spPr>
        <p:txBody>
          <a:bodyPr/>
          <a:lstStyle/>
          <a:p>
            <a:r>
              <a:rPr lang="en-US" dirty="0"/>
              <a:t>May have done in Cleaning steps</a:t>
            </a:r>
          </a:p>
          <a:p>
            <a:pPr lvl="1"/>
            <a:r>
              <a:rPr lang="en-US" dirty="0"/>
              <a:t>Does U = unknown, thus missing?</a:t>
            </a:r>
          </a:p>
          <a:p>
            <a:pPr lvl="1"/>
            <a:r>
              <a:rPr lang="en-US" dirty="0"/>
              <a:t>Does blank = 0?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BA5ED-C4EC-9DD2-3F29-71DE552674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2789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9560-8238-D621-7E5E-ADF0C91C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ADF9-DC49-137E-8770-825B8004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4: </a:t>
            </a:r>
            <a:r>
              <a:rPr lang="en-US" dirty="0"/>
              <a:t>Make easy decisions on Rows/Columns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7764-4C2A-27ED-4B74-FBB5F598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If you haven’t already, mark for elimination various rows and columns</a:t>
            </a:r>
          </a:p>
          <a:p>
            <a:pPr lvl="1"/>
            <a:r>
              <a:rPr lang="en-US" dirty="0"/>
              <a:t>Do you want to “delete” the column or just not use?</a:t>
            </a:r>
          </a:p>
          <a:p>
            <a:pPr lvl="2"/>
            <a:r>
              <a:rPr lang="en-US" dirty="0"/>
              <a:t>Could be helpful for imputation?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E2663-946D-F3D5-6B1C-AE1B2997C6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493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7EBA-5A8A-1E39-F126-39D457B7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the Hard Work Begins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D880-E6C8-ABC1-5459-2D167246D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3094348"/>
          </a:xfrm>
        </p:spPr>
        <p:txBody>
          <a:bodyPr/>
          <a:lstStyle/>
          <a:p>
            <a:r>
              <a:rPr lang="en-US" dirty="0"/>
              <a:t>P.S. Don’t forget Continuous Improvement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7492D-498E-2871-60B2-672AAA4DA0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011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D5B0-7FCC-A4B9-AC5A-1CF910B8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2D3B-7E6C-128B-26ED-9CEF4413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5: </a:t>
            </a:r>
            <a:r>
              <a:rPr lang="en-US" dirty="0"/>
              <a:t>Assess missingness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9ECC-F05A-979A-E8CD-903F5DCCA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We now must determine MCAR/MAR</a:t>
            </a:r>
          </a:p>
          <a:p>
            <a:pPr lvl="1"/>
            <a:r>
              <a:rPr lang="en-US" dirty="0"/>
              <a:t>Little has a method, some things I read weren’t complimentary</a:t>
            </a:r>
          </a:p>
          <a:p>
            <a:pPr lvl="1"/>
            <a:r>
              <a:rPr lang="en-US" dirty="0"/>
              <a:t>I choose to do the tests manually</a:t>
            </a:r>
          </a:p>
          <a:p>
            <a:pPr lvl="2"/>
            <a:r>
              <a:rPr lang="en-US" dirty="0"/>
              <a:t>Learn more about the data</a:t>
            </a:r>
          </a:p>
          <a:p>
            <a:pPr lvl="2"/>
            <a:r>
              <a:rPr lang="en-US" dirty="0"/>
              <a:t>There is an increased Type I error rate, but the consequences are low</a:t>
            </a:r>
          </a:p>
          <a:p>
            <a:pPr lvl="1"/>
            <a:r>
              <a:rPr lang="en-US" dirty="0"/>
              <a:t>Logistic regression, Chi Square and other methods can be used</a:t>
            </a:r>
          </a:p>
          <a:p>
            <a:pPr lvl="1"/>
            <a:r>
              <a:rPr lang="en-US" dirty="0"/>
              <a:t>I find a Decision Tree to be just fine and nice visually</a:t>
            </a:r>
          </a:p>
          <a:p>
            <a:pPr lvl="2"/>
            <a:r>
              <a:rPr lang="en-US" dirty="0"/>
              <a:t>I used judgement, not statistical significance</a:t>
            </a:r>
          </a:p>
          <a:p>
            <a:pPr lvl="1"/>
            <a:r>
              <a:rPr lang="en-US" dirty="0"/>
              <a:t>Again consequences are low for mistake because ….</a:t>
            </a:r>
          </a:p>
          <a:p>
            <a:pPr lvl="2"/>
            <a:r>
              <a:rPr lang="en-US" dirty="0"/>
              <a:t>If we use more advanced methods, they assume MAR and thus handle MCAR just fine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A09D4-1A2F-4E6C-DEB0-0D1DA9668E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422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D75D-274A-36FD-B12D-5DE3A242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E65A-1890-3454-8233-6C74D765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6: </a:t>
            </a:r>
            <a:r>
              <a:rPr lang="en-US" dirty="0"/>
              <a:t>Apply simple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D5E0-9E3A-BECB-166A-0F50BF7DF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These are univariate (one variable at a time) methods</a:t>
            </a:r>
          </a:p>
          <a:p>
            <a:pPr lvl="1"/>
            <a:r>
              <a:rPr lang="en-US" dirty="0"/>
              <a:t>Check on which methods work only for MCAR</a:t>
            </a:r>
          </a:p>
          <a:p>
            <a:pPr lvl="1"/>
            <a:r>
              <a:rPr lang="en-US" dirty="0"/>
              <a:t>First check …. “small” number of missing data</a:t>
            </a:r>
          </a:p>
          <a:p>
            <a:pPr lvl="2"/>
            <a:r>
              <a:rPr lang="en-US" dirty="0"/>
              <a:t>This gets that variable “out of the way” for Multiple Imputation</a:t>
            </a:r>
          </a:p>
          <a:p>
            <a:pPr lvl="1"/>
            <a:r>
              <a:rPr lang="en-US" dirty="0"/>
              <a:t>Second check could be variables with more missing, but SME indicates univariate imputation should be fine</a:t>
            </a:r>
          </a:p>
          <a:p>
            <a:pPr lvl="2"/>
            <a:r>
              <a:rPr lang="en-US" dirty="0"/>
              <a:t>Need there not to be “many” missing values in the variable used to impute if a modeling method is used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17E3-5A3C-3AA4-4BF6-677F3D0B46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634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3D95-1371-8979-F767-5A6CEB6B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17B0-406A-EBCD-5344-7077AA61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6: </a:t>
            </a:r>
            <a:r>
              <a:rPr lang="en-US" dirty="0"/>
              <a:t>Apply simple techniques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C832-C20B-9889-0CF2-0E061B85E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Non “modeling” methods</a:t>
            </a:r>
          </a:p>
          <a:p>
            <a:pPr lvl="1"/>
            <a:r>
              <a:rPr lang="en-US" dirty="0"/>
              <a:t>Mean, median, mode</a:t>
            </a:r>
          </a:p>
          <a:p>
            <a:pPr lvl="1"/>
            <a:r>
              <a:rPr lang="en-US" dirty="0"/>
              <a:t>Simple stochastic</a:t>
            </a:r>
          </a:p>
          <a:p>
            <a:pPr lvl="1"/>
            <a:r>
              <a:rPr lang="en-US" dirty="0"/>
              <a:t>LOCF for time series </a:t>
            </a:r>
          </a:p>
          <a:p>
            <a:r>
              <a:rPr lang="en-US" dirty="0"/>
              <a:t>Modeling methods</a:t>
            </a:r>
          </a:p>
          <a:p>
            <a:pPr lvl="1"/>
            <a:r>
              <a:rPr lang="en-US" dirty="0"/>
              <a:t>Any number of regression/ML techniques</a:t>
            </a:r>
          </a:p>
          <a:p>
            <a:pPr lvl="2"/>
            <a:r>
              <a:rPr lang="en-US" dirty="0"/>
              <a:t>Choose based on understand of variables and class of variable being imputed</a:t>
            </a:r>
          </a:p>
          <a:p>
            <a:pPr lvl="2"/>
            <a:r>
              <a:rPr lang="en-US" dirty="0"/>
              <a:t>Can be point estimate or stochastic</a:t>
            </a:r>
            <a:endParaRPr lang="en-US" dirty="0">
              <a:solidFill>
                <a:srgbClr val="FF3300"/>
              </a:solidFill>
            </a:endParaRPr>
          </a:p>
          <a:p>
            <a:pPr lvl="2"/>
            <a:endParaRPr lang="en-US" dirty="0">
              <a:solidFill>
                <a:srgbClr val="FF3300"/>
              </a:solidFill>
            </a:endParaRPr>
          </a:p>
          <a:p>
            <a:r>
              <a:rPr lang="en-US" dirty="0">
                <a:solidFill>
                  <a:srgbClr val="FF3300"/>
                </a:solidFill>
              </a:rPr>
              <a:t>MICE package has options, but coding yourself will create understanding. </a:t>
            </a:r>
            <a:r>
              <a:rPr lang="en-US">
                <a:solidFill>
                  <a:srgbClr val="FF3300"/>
                </a:solidFill>
              </a:rPr>
              <a:t>It’s not hard.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3558A-B506-8419-E179-12189B78FF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0448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9B87-FF55-D044-6469-502EF139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F8658-9EF4-B940-4ACC-C3FF8E19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7: Multiple Imputation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26DC1-0BF3-D072-0484-CF227953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3094348"/>
          </a:xfrm>
        </p:spPr>
        <p:txBody>
          <a:bodyPr/>
          <a:lstStyle/>
          <a:p>
            <a:r>
              <a:rPr lang="en-US" dirty="0"/>
              <a:t>Of MICE and Business Analytics Professionals</a:t>
            </a:r>
          </a:p>
          <a:p>
            <a:endParaRPr lang="en-US" dirty="0"/>
          </a:p>
          <a:p>
            <a:r>
              <a:rPr lang="en-US" dirty="0"/>
              <a:t>First and most different aspect</a:t>
            </a:r>
          </a:p>
          <a:p>
            <a:pPr lvl="1"/>
            <a:r>
              <a:rPr lang="en-US" dirty="0"/>
              <a:t>We create </a:t>
            </a:r>
            <a:r>
              <a:rPr lang="en-US" b="1" i="1" dirty="0"/>
              <a:t>m</a:t>
            </a:r>
            <a:r>
              <a:rPr lang="en-US" dirty="0"/>
              <a:t> datasets, not one dataset</a:t>
            </a:r>
          </a:p>
          <a:p>
            <a:pPr lvl="1"/>
            <a:r>
              <a:rPr lang="en-US" dirty="0"/>
              <a:t>Each dataset has the missing data imputed “differently”</a:t>
            </a:r>
          </a:p>
          <a:p>
            <a:r>
              <a:rPr lang="en-US" dirty="0"/>
              <a:t>We model on </a:t>
            </a:r>
            <a:r>
              <a:rPr lang="en-US" u="sng" dirty="0"/>
              <a:t>each</a:t>
            </a:r>
            <a:r>
              <a:rPr lang="en-US" dirty="0"/>
              <a:t> dataset</a:t>
            </a:r>
          </a:p>
          <a:p>
            <a:r>
              <a:rPr lang="en-US" dirty="0"/>
              <a:t>We don’t “average” the datasets, we “average” the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19ED4-4628-559C-8393-A83722EA87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247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0E0A-0E54-1C06-400F-FFFF1E0D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1F60D-3B36-9963-CEB7-762DD13D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7: Multiple Imputation – Some Terminology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F5FD1-5BC5-13A7-60B2-D854D4781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43" y="1600200"/>
            <a:ext cx="8714013" cy="3094348"/>
          </a:xfrm>
        </p:spPr>
        <p:txBody>
          <a:bodyPr/>
          <a:lstStyle/>
          <a:p>
            <a:r>
              <a:rPr lang="en-US" b="1" dirty="0"/>
              <a:t>m</a:t>
            </a:r>
            <a:r>
              <a:rPr lang="en-US" dirty="0"/>
              <a:t>: the number of imputed datasets. For this class, m=10. </a:t>
            </a:r>
          </a:p>
          <a:p>
            <a:pPr lvl="1"/>
            <a:r>
              <a:rPr lang="en-US" dirty="0"/>
              <a:t>Some theory can be used to determine </a:t>
            </a:r>
            <a:r>
              <a:rPr lang="en-US" b="1" dirty="0"/>
              <a:t>m</a:t>
            </a:r>
            <a:r>
              <a:rPr lang="en-US" dirty="0"/>
              <a:t>, but practical implications probably rule unless totally automated</a:t>
            </a:r>
          </a:p>
          <a:p>
            <a:r>
              <a:rPr lang="en-US" dirty="0"/>
              <a:t>Works for </a:t>
            </a:r>
            <a:r>
              <a:rPr lang="en-US" b="1" dirty="0"/>
              <a:t>MCAR</a:t>
            </a:r>
            <a:r>
              <a:rPr lang="en-US" dirty="0"/>
              <a:t> and </a:t>
            </a:r>
            <a:r>
              <a:rPr lang="en-US" b="1" dirty="0"/>
              <a:t>MAR</a:t>
            </a:r>
          </a:p>
          <a:p>
            <a:r>
              <a:rPr lang="en-US" dirty="0"/>
              <a:t>I’m ignoring </a:t>
            </a:r>
            <a:r>
              <a:rPr lang="en-US" dirty="0" err="1"/>
              <a:t>ignorability</a:t>
            </a:r>
            <a:r>
              <a:rPr lang="en-US" dirty="0"/>
              <a:t> (MNAR?) </a:t>
            </a:r>
          </a:p>
          <a:p>
            <a:endParaRPr lang="en-US" b="1" dirty="0"/>
          </a:p>
          <a:p>
            <a:r>
              <a:rPr lang="en-US" b="1" dirty="0"/>
              <a:t>Q: </a:t>
            </a:r>
            <a:r>
              <a:rPr lang="en-US" dirty="0"/>
              <a:t>quantity(</a:t>
            </a:r>
            <a:r>
              <a:rPr lang="en-US" dirty="0" err="1"/>
              <a:t>ies</a:t>
            </a:r>
            <a:r>
              <a:rPr lang="en-US" dirty="0"/>
              <a:t>) of interest, our parameters </a:t>
            </a:r>
          </a:p>
          <a:p>
            <a:r>
              <a:rPr lang="en-US" b="1" dirty="0"/>
              <a:t>Q: </a:t>
            </a:r>
            <a:r>
              <a:rPr lang="en-US" dirty="0"/>
              <a:t>our sample estimate of </a:t>
            </a:r>
            <a:r>
              <a:rPr lang="en-US" b="1" dirty="0"/>
              <a:t>Q</a:t>
            </a:r>
          </a:p>
          <a:p>
            <a:r>
              <a:rPr lang="en-US" b="1" dirty="0"/>
              <a:t>Unbiased: </a:t>
            </a:r>
            <a:r>
              <a:rPr lang="en-US" dirty="0"/>
              <a:t>All estimates are wrong, but they can be right “on average”</a:t>
            </a:r>
          </a:p>
          <a:p>
            <a:r>
              <a:rPr lang="en-US" b="1" dirty="0"/>
              <a:t>Confidence Valid: </a:t>
            </a:r>
            <a:r>
              <a:rPr lang="en-US" dirty="0"/>
              <a:t>“conservative” on variability and </a:t>
            </a:r>
            <a:r>
              <a:rPr lang="en-US" b="1" dirty="0" err="1"/>
              <a:t>df</a:t>
            </a:r>
            <a:r>
              <a:rPr lang="en-US" dirty="0"/>
              <a:t> estimates</a:t>
            </a:r>
          </a:p>
          <a:p>
            <a:pPr lvl="1"/>
            <a:r>
              <a:rPr lang="en-US" b="1" dirty="0"/>
              <a:t>???? What does this mean????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92394-5884-A635-0634-ADD5E4BBA0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0E1034-5901-4F57-8C80-0A5F642FF569}"/>
                  </a:ext>
                </a:extLst>
              </p14:cNvPr>
              <p14:cNvContentPartPr/>
              <p14:nvPr/>
            </p14:nvContentPartPr>
            <p14:xfrm>
              <a:off x="712739" y="3849986"/>
              <a:ext cx="253800" cy="89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0E1034-5901-4F57-8C80-0A5F642FF5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739" y="3840986"/>
                <a:ext cx="271440" cy="10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99351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5F50-B19B-6FA1-22F5-DD35D79A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50F0-247C-0F5A-4D22-44201D43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7: Multiple Imputation – More Terminology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8C17-D6F9-1F93-328C-F75D11E1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43" y="1600200"/>
            <a:ext cx="8714013" cy="3094348"/>
          </a:xfrm>
        </p:spPr>
        <p:txBody>
          <a:bodyPr/>
          <a:lstStyle/>
          <a:p>
            <a:r>
              <a:rPr lang="en-US" b="1" dirty="0"/>
              <a:t>U: </a:t>
            </a:r>
            <a:r>
              <a:rPr lang="en-US" dirty="0"/>
              <a:t>Variance or covariance matrix (sampling variation)</a:t>
            </a:r>
          </a:p>
          <a:p>
            <a:r>
              <a:rPr lang="en-US" b="1" dirty="0"/>
              <a:t>B: </a:t>
            </a:r>
            <a:r>
              <a:rPr lang="en-US" dirty="0"/>
              <a:t>Variance caused by missing data</a:t>
            </a:r>
          </a:p>
          <a:p>
            <a:r>
              <a:rPr lang="en-US" b="1" dirty="0"/>
              <a:t>B/m: </a:t>
            </a:r>
            <a:r>
              <a:rPr lang="en-US" dirty="0"/>
              <a:t>Variance caused by </a:t>
            </a:r>
            <a:r>
              <a:rPr lang="en-US" dirty="0" err="1"/>
              <a:t>mputing</a:t>
            </a:r>
            <a:r>
              <a:rPr lang="en-US" dirty="0"/>
              <a:t> the missing data</a:t>
            </a:r>
          </a:p>
          <a:p>
            <a:r>
              <a:rPr lang="en-US" b="1" dirty="0"/>
              <a:t>T: </a:t>
            </a:r>
            <a:r>
              <a:rPr lang="en-US" dirty="0"/>
              <a:t>Total variance of </a:t>
            </a:r>
            <a:r>
              <a:rPr lang="en-US" dirty="0" err="1"/>
              <a:t>Q</a:t>
            </a:r>
            <a:r>
              <a:rPr lang="en-US" sz="1400" baseline="-25000" dirty="0" err="1"/>
              <a:t>hat</a:t>
            </a:r>
            <a:endParaRPr lang="en-US" sz="1400" b="1" dirty="0"/>
          </a:p>
          <a:p>
            <a:endParaRPr lang="en-US" b="1" dirty="0"/>
          </a:p>
          <a:p>
            <a:r>
              <a:rPr lang="en-US" b="1" dirty="0"/>
              <a:t>Equation 2.20</a:t>
            </a:r>
            <a:r>
              <a:rPr lang="en-US" dirty="0"/>
              <a:t>: T = U + B + B/m</a:t>
            </a:r>
          </a:p>
          <a:p>
            <a:endParaRPr lang="en-US" b="1" dirty="0"/>
          </a:p>
          <a:p>
            <a:r>
              <a:rPr lang="en-US" b="1" dirty="0"/>
              <a:t>   </a:t>
            </a:r>
            <a:r>
              <a:rPr lang="en-US" dirty="0"/>
              <a:t>= % of variation due to missingness</a:t>
            </a:r>
          </a:p>
          <a:p>
            <a:endParaRPr lang="en-US" dirty="0"/>
          </a:p>
          <a:p>
            <a:pPr marL="342900" lvl="1" indent="0">
              <a:buNone/>
            </a:pPr>
            <a:r>
              <a:rPr lang="en-US" dirty="0"/>
              <a:t>= (B + B/m)/T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D0C1F-E337-1A2E-1993-A4ABF962DB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042066-915C-6AC1-9315-F1C354E7B566}"/>
              </a:ext>
            </a:extLst>
          </p:cNvPr>
          <p:cNvGrpSpPr/>
          <p:nvPr/>
        </p:nvGrpSpPr>
        <p:grpSpPr>
          <a:xfrm>
            <a:off x="688697" y="4260703"/>
            <a:ext cx="202680" cy="372240"/>
            <a:chOff x="688697" y="4260703"/>
            <a:chExt cx="20268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CAA37A-D095-681E-D981-D69640E244BA}"/>
                    </a:ext>
                  </a:extLst>
                </p14:cNvPr>
                <p14:cNvContentPartPr/>
                <p14:nvPr/>
              </p14:nvContentPartPr>
              <p14:xfrm>
                <a:off x="700577" y="4365823"/>
                <a:ext cx="9360" cy="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CAA37A-D095-681E-D981-D69640E244B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577" y="4357183"/>
                  <a:ext cx="27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6BAF30-AE27-0C3A-7578-20BE565FA1A0}"/>
                    </a:ext>
                  </a:extLst>
                </p14:cNvPr>
                <p14:cNvContentPartPr/>
                <p14:nvPr/>
              </p14:nvContentPartPr>
              <p14:xfrm>
                <a:off x="688697" y="4260703"/>
                <a:ext cx="202680" cy="372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6BAF30-AE27-0C3A-7578-20BE565FA1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9697" y="4251703"/>
                  <a:ext cx="2203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0CC98C9-DB10-5DE3-E97E-8559E4DFFE56}"/>
                    </a:ext>
                  </a:extLst>
                </p14:cNvPr>
                <p14:cNvContentPartPr/>
                <p14:nvPr/>
              </p14:nvContentPartPr>
              <p14:xfrm>
                <a:off x="723617" y="4364383"/>
                <a:ext cx="114120" cy="19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0CC98C9-DB10-5DE3-E97E-8559E4DFFE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4617" y="4355383"/>
                  <a:ext cx="131760" cy="21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930000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706B-E61E-116C-D33D-8636E8CF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CAA9-B33C-76B5-8BCB-6E3E7E3B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7: Multiple Imputation - Patterns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CE90D-E506-6831-6630-0A37CDCC3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3094348"/>
          </a:xfrm>
        </p:spPr>
        <p:txBody>
          <a:bodyPr/>
          <a:lstStyle/>
          <a:p>
            <a:r>
              <a:rPr lang="en-US" b="1" dirty="0"/>
              <a:t>Univariate and multivariate</a:t>
            </a:r>
          </a:p>
          <a:p>
            <a:pPr lvl="1"/>
            <a:r>
              <a:rPr lang="en-US" dirty="0"/>
              <a:t>Don’t need MICE for univariate</a:t>
            </a:r>
          </a:p>
          <a:p>
            <a:pPr lvl="1"/>
            <a:endParaRPr lang="en-US" b="1" dirty="0"/>
          </a:p>
          <a:p>
            <a:r>
              <a:rPr lang="en-US" b="1" dirty="0"/>
              <a:t>Monotone or general</a:t>
            </a:r>
          </a:p>
          <a:p>
            <a:pPr lvl="1"/>
            <a:r>
              <a:rPr lang="en-US" dirty="0"/>
              <a:t>Monotone is a unique situation not covered in this class</a:t>
            </a:r>
          </a:p>
          <a:p>
            <a:pPr lvl="1"/>
            <a:endParaRPr lang="en-US" dirty="0"/>
          </a:p>
          <a:p>
            <a:r>
              <a:rPr lang="en-US" b="1" dirty="0"/>
              <a:t>Connected or unconnected</a:t>
            </a:r>
          </a:p>
          <a:p>
            <a:pPr lvl="1"/>
            <a:r>
              <a:rPr lang="en-US" dirty="0"/>
              <a:t>???? No complete overlap of missingness????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5443D-EBED-42D0-46E6-3679A68523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2163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E2DE-DA9F-CA4D-8689-1353EE5F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2EB3-2A05-F398-A10C-41D2D073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7: Multiple Imputation – “some” challenges  (pgs. 111-112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7C2C7-9CF7-5941-3DFE-04216A2E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3094348"/>
          </a:xfrm>
        </p:spPr>
        <p:txBody>
          <a:bodyPr/>
          <a:lstStyle/>
          <a:p>
            <a:r>
              <a:rPr lang="en-US" dirty="0"/>
              <a:t>Predictors of missing values can have missing values</a:t>
            </a:r>
          </a:p>
          <a:p>
            <a:r>
              <a:rPr lang="en-US" dirty="0"/>
              <a:t>Circular dependence. I need x2 to predict x2 but x2 has missingness and I need x3 to predict x2 but it has missingness</a:t>
            </a:r>
          </a:p>
          <a:p>
            <a:r>
              <a:rPr lang="en-US" dirty="0"/>
              <a:t>Different types of variables (categorical, quantitative,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Imputation can create impossible combinations of variables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2368-470C-6E57-E4B5-95F78D804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3280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D4BA-3215-A6E1-0F94-833DE603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437A-4069-252A-1DC6-5B9FD10B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7: Multiple Imputation: 2 of 3 methods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31D6-2FB2-411F-E79C-48F32FF0C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3094348"/>
          </a:xfrm>
        </p:spPr>
        <p:txBody>
          <a:bodyPr/>
          <a:lstStyle/>
          <a:p>
            <a:r>
              <a:rPr lang="en-US" dirty="0"/>
              <a:t>I skipped </a:t>
            </a:r>
            <a:r>
              <a:rPr lang="en-US" b="1" dirty="0"/>
              <a:t>monotonic</a:t>
            </a:r>
          </a:p>
          <a:p>
            <a:endParaRPr lang="en-US" dirty="0"/>
          </a:p>
          <a:p>
            <a:r>
              <a:rPr lang="en-US" b="1" dirty="0"/>
              <a:t>Joint Modeling</a:t>
            </a:r>
            <a:r>
              <a:rPr lang="en-US" dirty="0"/>
              <a:t>: imputations drawn from a multivariate model</a:t>
            </a:r>
          </a:p>
          <a:p>
            <a:endParaRPr lang="en-US" dirty="0"/>
          </a:p>
          <a:p>
            <a:r>
              <a:rPr lang="en-US" b="1" dirty="0"/>
              <a:t>Fully Conditional Specification</a:t>
            </a:r>
            <a:r>
              <a:rPr lang="en-US" dirty="0"/>
              <a:t>: aka </a:t>
            </a:r>
            <a:r>
              <a:rPr lang="en-US" i="1" dirty="0"/>
              <a:t>chained equations</a:t>
            </a:r>
            <a:r>
              <a:rPr lang="en-US" dirty="0"/>
              <a:t>. Iterated conditional models.</a:t>
            </a:r>
          </a:p>
          <a:p>
            <a:pPr lvl="1"/>
            <a:r>
              <a:rPr lang="en-US" dirty="0"/>
              <a:t>MICE is a Fully Conditional model.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57AEF-1FA8-69F8-267C-537089EC70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8878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FACA-05C1-6F45-3DC7-896477A4A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Of MICE and Imputation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9277E-4AB0-56C3-08BB-05249D972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0529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4D78-D337-BB37-BAE8-96FB57DA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3710D-2951-848B-7ADF-B45F8EFA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863" b="10515"/>
          <a:stretch/>
        </p:blipFill>
        <p:spPr>
          <a:xfrm>
            <a:off x="2173793" y="0"/>
            <a:ext cx="6970207" cy="61368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4D9E3-8D07-9972-8183-FD71DCFFEC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777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DF97-9916-67F2-2A54-75C6B950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3215"/>
            <a:ext cx="2784835" cy="992187"/>
          </a:xfrm>
        </p:spPr>
        <p:txBody>
          <a:bodyPr/>
          <a:lstStyle/>
          <a:p>
            <a:r>
              <a:rPr lang="en-US" dirty="0"/>
              <a:t>Relationship of x1 and x2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240D1C-DA44-FF0D-3DDD-E89E6413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523875"/>
            <a:ext cx="5457825" cy="58102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9955EF-C9CF-047D-C901-32F0CED6A4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933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F6DE-E00C-D2CC-4B26-A12388E6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Relationship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DF919-3A1B-396A-A92A-25CB4C2A2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500" y="1356007"/>
            <a:ext cx="4879305" cy="48793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24ABE-D366-7C4A-55E9-722162549A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7324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BCD3-2465-CE28-8F60-28548CD5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20" y="-38102"/>
            <a:ext cx="8305800" cy="992187"/>
          </a:xfrm>
        </p:spPr>
        <p:txBody>
          <a:bodyPr/>
          <a:lstStyle/>
          <a:p>
            <a:r>
              <a:rPr lang="en-US" dirty="0"/>
              <a:t>3D</a:t>
            </a:r>
            <a:r>
              <a:rPr lang="en-US" sz="1600" dirty="0"/>
              <a:t>ish</a:t>
            </a:r>
            <a:r>
              <a:rPr lang="en-US" dirty="0"/>
              <a:t>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C0EBA-BE3D-19B1-7995-C675AFC70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799308"/>
            <a:ext cx="6000750" cy="5600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3B28F4-C3C2-ABCD-A33B-CDE7CA6D24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3040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4B5E-371B-BD23-3BD0-1D9D84D8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8" y="1792650"/>
            <a:ext cx="1672472" cy="992187"/>
          </a:xfrm>
        </p:spPr>
        <p:txBody>
          <a:bodyPr/>
          <a:lstStyle/>
          <a:p>
            <a:r>
              <a:rPr lang="en-US" dirty="0"/>
              <a:t>How Do I Impute This Number?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F049E-37D2-D715-3A8E-8BF826480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69" b="15260"/>
          <a:stretch/>
        </p:blipFill>
        <p:spPr>
          <a:xfrm>
            <a:off x="2315194" y="523269"/>
            <a:ext cx="6828806" cy="581146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ABC29D-C0A1-ACFD-242A-7B0B5C702B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1D40F1-8157-0C54-D2FD-B3DBF5F42F54}"/>
              </a:ext>
            </a:extLst>
          </p:cNvPr>
          <p:cNvSpPr/>
          <p:nvPr/>
        </p:nvSpPr>
        <p:spPr bwMode="auto">
          <a:xfrm>
            <a:off x="7418895" y="3355942"/>
            <a:ext cx="1096455" cy="74471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5987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9341-8C92-2265-A30A-3A00088C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86" y="799308"/>
            <a:ext cx="2426616" cy="992187"/>
          </a:xfrm>
        </p:spPr>
        <p:txBody>
          <a:bodyPr/>
          <a:lstStyle/>
          <a:p>
            <a:r>
              <a:rPr lang="en-US" dirty="0"/>
              <a:t>Conditional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13A57-11D6-3FC6-3BA6-E262CEE6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755650"/>
            <a:ext cx="6000750" cy="5600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589E56-A033-A7D9-A995-9B44EBA2E9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0619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54AC-3ACA-0CC1-265A-2571606C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71" y="1076213"/>
            <a:ext cx="2894802" cy="992187"/>
          </a:xfrm>
        </p:spPr>
        <p:txBody>
          <a:bodyPr/>
          <a:lstStyle/>
          <a:p>
            <a:pPr algn="ctr"/>
            <a:r>
              <a:rPr lang="en-US" dirty="0"/>
              <a:t>What if Both Numbers are Missing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DF4D2-4831-8A8F-0F86-5DFF54AF6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899684-5879-6D5D-D39D-4B10BBD6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202" y="608211"/>
            <a:ext cx="5715798" cy="583011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8239916-B0EC-D37D-DAF3-6B48A7A83552}"/>
              </a:ext>
            </a:extLst>
          </p:cNvPr>
          <p:cNvSpPr/>
          <p:nvPr/>
        </p:nvSpPr>
        <p:spPr bwMode="auto">
          <a:xfrm>
            <a:off x="7352907" y="3987538"/>
            <a:ext cx="1941922" cy="74471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400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F866F-97F3-8AC8-AE1E-60A4BAE9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E423-CAAD-8CBB-D345-64B42197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929B0-7EF2-D590-CDC0-75E52D0D2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628650"/>
            <a:ext cx="6000750" cy="56007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9931B7-2163-5D14-50B8-EAF178D36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9025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6819-D0AA-2FDE-2E96-24FDC75A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just a conditional model?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7485B-233C-726D-3977-FED9823AF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13" y="1634276"/>
            <a:ext cx="6853287" cy="46027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483557-E486-F4D5-4D4B-52FD0EE84D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020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722948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TASKPANEKEY" val="7db1411b-729c-41ed-b6e4-f49e6bbb47c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EXPANDSHOWBAR" val="Fals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PRESENTATIONGUID" val="7c6dfe63-c165-447c-b1d5-4eab2431be8e"/>
  <p:tag name="WASPOLLED" val="8F9AB952EC8B4A6BBB12A1EFE6FD3EBB"/>
  <p:tag name="TPVERSION" val="8"/>
  <p:tag name="PPTVERSION" val="16"/>
  <p:tag name="TPOS" val="2"/>
  <p:tag name="TPLASTSAVEVERSION" val="6.4 PC"/>
  <p:tag name="TPFULLVERSION" val="9.0.11.1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41987</TotalTime>
  <Words>1463</Words>
  <Application>Microsoft Office PowerPoint</Application>
  <PresentationFormat>On-screen Show (4:3)</PresentationFormat>
  <Paragraphs>261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Tahoma</vt:lpstr>
      <vt:lpstr>Wingdings</vt:lpstr>
      <vt:lpstr>Wingdings 2</vt:lpstr>
      <vt:lpstr>Blends</vt:lpstr>
      <vt:lpstr>Custom Design</vt:lpstr>
      <vt:lpstr>Missing Data: Over-re-view</vt:lpstr>
      <vt:lpstr>Most Important Lesson</vt:lpstr>
      <vt:lpstr>The Data Flow</vt:lpstr>
      <vt:lpstr>The Data Flow: Is it Really Linear?</vt:lpstr>
      <vt:lpstr>Common Missing Data Nomenclature</vt:lpstr>
      <vt:lpstr>Data Cleaning Steps</vt:lpstr>
      <vt:lpstr>Missing Data Steps</vt:lpstr>
      <vt:lpstr>Step 1: Identify missing data</vt:lpstr>
      <vt:lpstr>Step 2: “Mark” missing data (with 0,1)</vt:lpstr>
      <vt:lpstr>Step 3: Clean up any obvious mistakes (missing = 0)</vt:lpstr>
      <vt:lpstr>Step 4: Make easy decisions on Rows/Columns</vt:lpstr>
      <vt:lpstr>Now the Hard Work Begins</vt:lpstr>
      <vt:lpstr>Step 5: Assess missingness pattern</vt:lpstr>
      <vt:lpstr>Step 6: Apply simple techniques</vt:lpstr>
      <vt:lpstr>Step 6: Apply simple techniques (cont.)</vt:lpstr>
      <vt:lpstr>Step 7: Multiple Imputation </vt:lpstr>
      <vt:lpstr>Step 7: Multiple Imputation – Some Terminology</vt:lpstr>
      <vt:lpstr>Step 7: Multiple Imputation – More Terminology</vt:lpstr>
      <vt:lpstr>Step 7: Multiple Imputation - Patterns </vt:lpstr>
      <vt:lpstr>Step 7: Multiple Imputation – “some” challenges  (pgs. 111-112</vt:lpstr>
      <vt:lpstr>Step 7: Multiple Imputation: 2 of 3 methods </vt:lpstr>
      <vt:lpstr>Of MICE and Imputation</vt:lpstr>
      <vt:lpstr>Toy Data</vt:lpstr>
      <vt:lpstr>Relationship of x1 and x2</vt:lpstr>
      <vt:lpstr>3D Relationship</vt:lpstr>
      <vt:lpstr>3Dish Relationship</vt:lpstr>
      <vt:lpstr>How Do I Impute This Number?</vt:lpstr>
      <vt:lpstr>Conditional Distribution</vt:lpstr>
      <vt:lpstr>What if Both Numbers are Missing</vt:lpstr>
      <vt:lpstr>PowerPoint Presentation</vt:lpstr>
      <vt:lpstr>How about just a conditional model? </vt:lpstr>
    </vt:vector>
  </TitlesOfParts>
  <Company>Addison Wesley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Addison Wesley</dc:creator>
  <cp:lastModifiedBy>Allen Pannell</cp:lastModifiedBy>
  <cp:revision>168</cp:revision>
  <cp:lastPrinted>2025-02-11T18:37:40Z</cp:lastPrinted>
  <dcterms:created xsi:type="dcterms:W3CDTF">2005-02-25T19:46:41Z</dcterms:created>
  <dcterms:modified xsi:type="dcterms:W3CDTF">2025-02-17T17:50:45Z</dcterms:modified>
</cp:coreProperties>
</file>