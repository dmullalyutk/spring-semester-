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ed Hat Display SemiBold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Red Hat Display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edHatDisplay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RedHatDisplaySemiBold-italic.fntdata"/><Relationship Id="rId10" Type="http://schemas.openxmlformats.org/officeDocument/2006/relationships/font" Target="fonts/RedHatDisplaySemiBold-bold.fntdata"/><Relationship Id="rId13" Type="http://schemas.openxmlformats.org/officeDocument/2006/relationships/font" Target="fonts/RedHatDisplayMedium-regular.fntdata"/><Relationship Id="rId12" Type="http://schemas.openxmlformats.org/officeDocument/2006/relationships/font" Target="fonts/RedHatDisplaySemiBold-boldItalic.fntdata"/><Relationship Id="rId15" Type="http://schemas.openxmlformats.org/officeDocument/2006/relationships/font" Target="fonts/RedHatDisplayMedium-italic.fntdata"/><Relationship Id="rId14" Type="http://schemas.openxmlformats.org/officeDocument/2006/relationships/font" Target="fonts/RedHatDisplayMedium-bold.fntdata"/><Relationship Id="rId17" Type="http://schemas.openxmlformats.org/officeDocument/2006/relationships/font" Target="fonts/RedHatDisplay-regular.fntdata"/><Relationship Id="rId16" Type="http://schemas.openxmlformats.org/officeDocument/2006/relationships/font" Target="fonts/RedHatDisplayMedium-boldItalic.fntdata"/><Relationship Id="rId19" Type="http://schemas.openxmlformats.org/officeDocument/2006/relationships/font" Target="fonts/RedHatDisplay-italic.fntdata"/><Relationship Id="rId18" Type="http://schemas.openxmlformats.org/officeDocument/2006/relationships/font" Target="fonts/RedHat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bf976679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bf976679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bf976679c0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bf976679c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f976679c0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bf976679c0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109300" y="348544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Emerald Transformers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9" name="Google Shape;549;p43"/>
          <p:cNvSpPr txBox="1"/>
          <p:nvPr/>
        </p:nvSpPr>
        <p:spPr>
          <a:xfrm>
            <a:off x="109300" y="3031650"/>
            <a:ext cx="42735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David Mullaly, Jazmin Elias, Lauren Milsom, Afia Adiba</a:t>
            </a: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4"/>
          <p:cNvSpPr txBox="1"/>
          <p:nvPr>
            <p:ph type="title"/>
          </p:nvPr>
        </p:nvSpPr>
        <p:spPr>
          <a:xfrm>
            <a:off x="228600" y="98000"/>
            <a:ext cx="3154500" cy="651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Problem Statement:</a:t>
            </a:r>
            <a:endParaRPr sz="2700"/>
          </a:p>
        </p:txBody>
      </p:sp>
      <p:sp>
        <p:nvSpPr>
          <p:cNvPr id="555" name="Google Shape;555;p44"/>
          <p:cNvSpPr txBox="1"/>
          <p:nvPr>
            <p:ph idx="1" type="subTitle"/>
          </p:nvPr>
        </p:nvSpPr>
        <p:spPr>
          <a:xfrm>
            <a:off x="228600" y="749900"/>
            <a:ext cx="2641200" cy="101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Emerald Transformer needs to assess customer density and competitive landscape in the Northeast, West, and Pacific Northwest regions to inform strategic expansion decisions.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6" name="Google Shape;55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53" y="2829652"/>
            <a:ext cx="3154500" cy="2082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6650" y="97993"/>
            <a:ext cx="4714551" cy="2930674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4"/>
          <p:cNvSpPr/>
          <p:nvPr/>
        </p:nvSpPr>
        <p:spPr>
          <a:xfrm rot="10800000">
            <a:off x="3497700" y="3106350"/>
            <a:ext cx="5646300" cy="19449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9" name="Google Shape;559;p44"/>
          <p:cNvSpPr txBox="1"/>
          <p:nvPr>
            <p:ph type="title"/>
          </p:nvPr>
        </p:nvSpPr>
        <p:spPr>
          <a:xfrm>
            <a:off x="3519000" y="2917950"/>
            <a:ext cx="3154500" cy="651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Pertinent Data:</a:t>
            </a:r>
            <a:endParaRPr sz="2700"/>
          </a:p>
        </p:txBody>
      </p:sp>
      <p:sp>
        <p:nvSpPr>
          <p:cNvPr id="560" name="Google Shape;560;p44"/>
          <p:cNvSpPr txBox="1"/>
          <p:nvPr>
            <p:ph idx="1" type="subTitle"/>
          </p:nvPr>
        </p:nvSpPr>
        <p:spPr>
          <a:xfrm>
            <a:off x="3575750" y="3569850"/>
            <a:ext cx="3834600" cy="14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Comprehensive US Meter Data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Emerald Pickups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Emerald Customer Meter Data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5"/>
          <p:cNvSpPr/>
          <p:nvPr/>
        </p:nvSpPr>
        <p:spPr>
          <a:xfrm flipH="1">
            <a:off x="5993575" y="1029375"/>
            <a:ext cx="2892900" cy="29769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6" name="Google Shape;566;p45"/>
          <p:cNvSpPr/>
          <p:nvPr/>
        </p:nvSpPr>
        <p:spPr>
          <a:xfrm>
            <a:off x="3190750" y="1025475"/>
            <a:ext cx="2719800" cy="2984700"/>
          </a:xfrm>
          <a:prstGeom prst="snip2DiagRect">
            <a:avLst>
              <a:gd fmla="val 15918" name="adj1"/>
              <a:gd fmla="val 16667" name="adj2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7" name="Google Shape;567;p45"/>
          <p:cNvSpPr/>
          <p:nvPr/>
        </p:nvSpPr>
        <p:spPr>
          <a:xfrm>
            <a:off x="214825" y="1033300"/>
            <a:ext cx="2892900" cy="29769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8" name="Google Shape;568;p45"/>
          <p:cNvSpPr txBox="1"/>
          <p:nvPr>
            <p:ph type="title"/>
          </p:nvPr>
        </p:nvSpPr>
        <p:spPr>
          <a:xfrm>
            <a:off x="289800" y="275200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Possible Lines of Inquiry/Analysis</a:t>
            </a:r>
            <a:endParaRPr sz="2700"/>
          </a:p>
        </p:txBody>
      </p:sp>
      <p:sp>
        <p:nvSpPr>
          <p:cNvPr id="569" name="Google Shape;569;p4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Expansion</a:t>
            </a:r>
            <a:r>
              <a:rPr lang="en"/>
              <a:t> Prioritization</a:t>
            </a:r>
            <a:endParaRPr/>
          </a:p>
        </p:txBody>
      </p:sp>
      <p:sp>
        <p:nvSpPr>
          <p:cNvPr id="570" name="Google Shape;570;p45"/>
          <p:cNvSpPr txBox="1"/>
          <p:nvPr>
            <p:ph idx="1" type="body"/>
          </p:nvPr>
        </p:nvSpPr>
        <p:spPr>
          <a:xfrm>
            <a:off x="405825" y="2417500"/>
            <a:ext cx="2455500" cy="1212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Center service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Field services growth </a:t>
            </a:r>
            <a:r>
              <a:rPr lang="en" sz="1300"/>
              <a:t>opportunities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Identify highest potential customer density areas</a:t>
            </a:r>
            <a:endParaRPr sz="1300"/>
          </a:p>
        </p:txBody>
      </p:sp>
      <p:sp>
        <p:nvSpPr>
          <p:cNvPr id="571" name="Google Shape;571;p45"/>
          <p:cNvSpPr txBox="1"/>
          <p:nvPr>
            <p:ph idx="2" type="body"/>
          </p:nvPr>
        </p:nvSpPr>
        <p:spPr>
          <a:xfrm>
            <a:off x="3154350" y="2310125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Key competitors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Competitive advantage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Market share </a:t>
            </a:r>
            <a:endParaRPr sz="1300"/>
          </a:p>
        </p:txBody>
      </p:sp>
      <p:sp>
        <p:nvSpPr>
          <p:cNvPr id="572" name="Google Shape;572;p4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</a:t>
            </a:r>
            <a:r>
              <a:rPr lang="en"/>
              <a:t>Opportunity</a:t>
            </a:r>
            <a:r>
              <a:rPr lang="en"/>
              <a:t> </a:t>
            </a:r>
            <a:r>
              <a:rPr lang="en"/>
              <a:t>Assessment</a:t>
            </a:r>
            <a:endParaRPr/>
          </a:p>
        </p:txBody>
      </p:sp>
      <p:sp>
        <p:nvSpPr>
          <p:cNvPr id="573" name="Google Shape;573;p45"/>
          <p:cNvSpPr txBox="1"/>
          <p:nvPr>
            <p:ph idx="4" type="subTitle"/>
          </p:nvPr>
        </p:nvSpPr>
        <p:spPr>
          <a:xfrm>
            <a:off x="3347725" y="1282463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Landscape</a:t>
            </a:r>
            <a:endParaRPr/>
          </a:p>
        </p:txBody>
      </p:sp>
      <p:sp>
        <p:nvSpPr>
          <p:cNvPr id="574" name="Google Shape;574;p45"/>
          <p:cNvSpPr txBox="1"/>
          <p:nvPr>
            <p:ph idx="6" type="body"/>
          </p:nvPr>
        </p:nvSpPr>
        <p:spPr>
          <a:xfrm>
            <a:off x="5942875" y="2310125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Expected ROI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Investor-Owned Utilities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Northeast, West, Pacific Northwest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